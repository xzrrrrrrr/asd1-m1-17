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projekt pokazuje, jak analizować przedziały czasu. Rezerwacje sali są tylko przykładem. Program szuka nakładających się par, łączy zajęte odcinki i wyznacza najwięcej rezerwacji naraz.</a:t>
            </a:r>
          </a:p>
          <a:p/>
          <a:p>
            <a:r>
              <a:t>DODATKOWE SZCZEGÓŁY — TYLKO W RAZIE PYTAŃ</a:t>
            </a:r>
          </a:p>
          <a:p>
            <a:r>
              <a:t>POWIEDZ: „Ten projekt pokazuje, co można odczytać z przedziałów czasu. Rezerwacje sali są przykładem, a nie kompletnym systemem rezerwacji”.</a:t>
            </a:r>
          </a:p>
          <a:p>
            <a:r>
              <a:t>WSKAŻ: trzy pytania po prawej.</a:t>
            </a:r>
          </a:p>
          <a:p>
            <a:r>
              <a:t>PRZEJŚCIE: „Zacznijmy od trzech prostych rezerwacji”.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trwa od 1 do 4, B od 2 do 5, C od 5 do 7. A i B się nakładają. B i C tylko się stykają. Chcę pokazać studentowi, jak z takich danych wyliczyć wynik krok po kroku.</a:t>
            </a:r>
          </a:p>
          <a:p/>
          <a:p>
            <a:r>
              <a:t>DODATKOWE SZCZEGÓŁY — TYLKO W RAZIE PYTAŃ</a:t>
            </a:r>
          </a:p>
          <a:p>
            <a:r>
              <a:t>POWIEDZ: „A trwa od 1 do 4, B od 2 do 5, C od 5 do 7. A i B kolidują. B i C tylko się stykają”.</a:t>
            </a:r>
          </a:p>
          <a:p>
            <a:r>
              <a:t>WSKAŻ: puste kółko przy końcu B i początek C. Zapis [start,end) oznacza: początek należy, koniec nie należy.</a:t>
            </a:r>
          </a:p>
          <a:p>
            <a:r>
              <a:t>DOPRECYZUJ: oś ma umowne jednostki, nie godziny. Odbiorcą jest student uczący się algorytmów.</a:t>
            </a:r>
          </a:p>
          <a:p>
            <a:r>
              <a:t>PRZEJŚCIE: „Program rozdziela te trzy pytania”.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Mogę wybrać gotowy przykład albo zmienić dane. Następnie wybieram metodę i oglądam jej działanie. Przycisk Krok pozwala zatrzymać się przy jednej decyzji i ją wyjaśnić.</a:t>
            </a:r>
          </a:p>
          <a:p/>
          <a:p>
            <a:r>
              <a:t>DODATKOWE SZCZEGÓŁY — TYLKO W RAZIE PYTAŃ</a:t>
            </a:r>
          </a:p>
          <a:p>
            <a:r>
              <a:t>POWIEDZ: „Można wczytać przykład albo dodać własne przedziały. Program nie tylko podaje wynik: pozwala obejrzeć, skąd on się wziął”.</a:t>
            </a:r>
          </a:p>
          <a:p>
            <a:r>
              <a:t>WSKAŻ: trzy etapy od lewej do prawej. W menu jest pięć metod: konflikty, pokrycie, zdarzenia, maksimum i kontrola jednostkami.</a:t>
            </a:r>
          </a:p>
          <a:p>
            <a:r>
              <a:t>DODAJ: są trzy scenariusze i trzy pytania z wyjaśnieniami, w tym pytanie o bieżący stan.</a:t>
            </a:r>
          </a:p>
          <a:p>
            <a:r>
              <a:t>PRZEJŚCIE: „Najważniejsza jest różnica między konfliktem i samym stykiem”.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 styk nie tworzy konfliktu: jeden przedział już się kończy, drugi dopiero zaczyna. Przy pokryciu łączymy je, bo nie ma przerwy. Przy liczeniu zdarzeń koniec odejmuje jeden, początek dodaje jeden. Wynik oceniamy po wszystkich zmianach tej samej chwili.</a:t>
            </a:r>
          </a:p>
          <a:p/>
          <a:p>
            <a:r>
              <a:t>DODATKOWE SZCZEGÓŁY — TYLKO W RAZIE PYTAŃ</a:t>
            </a:r>
          </a:p>
          <a:p>
            <a:r>
              <a:t>POWIEDZ: „Konflikt wymaga wspólnego odcinka o dodatniej długości. Dlatego używam ostrej nierówności. Przy pokryciu pytam o ciągłą zajętość, więc łączę również styk”.</a:t>
            </a:r>
          </a:p>
          <a:p>
            <a:r>
              <a:t>WSKAŻ: dolny schemat. Przedział tworzy +1 na początku i −1 na końcu. Sortowanie ustawia końce przed początkami. Obciążenie oceniam dopiero po całej grupie tego samego czasu.</a:t>
            </a:r>
          </a:p>
          <a:p>
            <a:r>
              <a:t>DOPRECYZUJ: maksimum zachowuje wszystkie odcinki, także rozłączne; sąsiadujące scala. Jednostki sprawdzają start ≤ t &lt; end dla t=0…99; są dokładne przy całkowitych granicach.</a:t>
            </a:r>
          </a:p>
          <a:p>
            <a:r>
              <a:t>KOSZT: własny Insertion Sort daje zdarzeniom najgorszy O(n²), nie O(n log 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Każda rezerwacja ma nazwę, początek i koniec. Z niej powstają dwa zdarzenia. Program zapisuje też kolejne kroki, żeby można było je spokojnie obejrzeć. Cztery identyczne przedziały dają sześć par nakładających się par, ale tylko cztery aktywne rezerwacje naraz.</a:t>
            </a:r>
          </a:p>
          <a:p/>
          <a:p>
            <a:r>
              <a:t>DODATKOWE SZCZEGÓŁY — TYLKO W RAZIE PYTAŃ</a:t>
            </a:r>
          </a:p>
          <a:p>
            <a:r>
              <a:t>POWIEDZ: „Używam tablic obiektów. Jeden obiekt opisuje jedną rezerwację. Z każdej rezerwacji powstają dwa zdarzenia”.</a:t>
            </a:r>
          </a:p>
          <a:p>
            <a:r>
              <a:t>WSKAŻ: przykład A i jego dwa zdarzenia. Sortowanie pracuje na kopii danych. Odcinek obciążenia ma start, end i aktywne. Historia przechowuje etap oraz stan z wykonania kodu.</a:t>
            </a:r>
          </a:p>
          <a:p>
            <a:r>
              <a:t>DODAJ: numerKroku wskazuje widoczny zapis; −1 to brak kroku, a zegarAnimacji=null oznacza zatrzymany zegar. Tablice wystarczają przy limicie 30 wpisów.</a:t>
            </a:r>
          </a:p>
          <a:p>
            <a:r>
              <a:t>PYTANIE: „Czy cztery identyczne rezerwacje oznaczają cztery pary konfliktów?” Nie: 6 par, ale maksimum 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HTML odpowiada za treść, CSS za wygląd, a JavaScript za działanie. Najpierw program sprawdza dane, potem wykonuje obliczenia, a na końcu pokazuje wynik i kroki. Do uruchomienia wystarczy otworzyć index.html — bez internetu.</a:t>
            </a:r>
          </a:p>
          <a:p/>
          <a:p>
            <a:r>
              <a:t>DODATKOWE SZCZEGÓŁY — TYLKO W RAZIE PYTAŃ</a:t>
            </a:r>
          </a:p>
          <a:p>
            <a:r>
              <a:t>POWIEDZ: „HTML tworzy stronę, CSS jej wygląd, a JavaScript obsługuje dane i obliczenia. Algorytmy nie czytają formularza ani nie rysują strony”.</a:t>
            </a:r>
          </a:p>
          <a:p>
            <a:r>
              <a:t>WSKAŻ: rozgałęzienie po obliczeniach: gotowy wynik i historia dla odtwarzacza. script.js obsługuje dane oraz wynik, animation.js pokazuje kroki, education.js pytania, comparison.js porównanie. tests.js używa tych samych algorytmów.</a:t>
            </a:r>
          </a:p>
          <a:p>
            <a:r>
              <a:t>KOSZTY: konflikty, pokrycie i zdarzenia mają najgorszy O(n²); jednostki O(100n+100). Pamięć zdarzeń O(n), jednostek O(100), wynik konfliktów do O(n²). Walidacja O(n²), historia sortowania do O(n³) i rysowanie to osobne koszty.</a:t>
            </a:r>
          </a:p>
          <a:p>
            <a:r>
              <a:t>PRZEJŚCIE: „W interfejsie widać dwa różne obrazy wyniku”.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 lewej widać bieżący krok, a po prawej osobny wynik końcowy. To dwa różne przykłady. W prawym maksimum wynosi dwa i występuje w dwóch oddzielnych okresach. Reset animacji nie usuwa tego końcowego wyniku.</a:t>
            </a:r>
          </a:p>
          <a:p/>
          <a:p>
            <a:r>
              <a:t>DODATKOWE SZCZEGÓŁY — TYLKO W RAZIE PYTAŃ</a:t>
            </a:r>
          </a:p>
          <a:p>
            <a:r>
              <a:t>POWIEDZ: „Główna oś pokazuje to, co algorytm bada teraz. Osobna oś w rozwijanym Wyniku końcowym pokazuje odpowiedź dla wszystkich danych”.</a:t>
            </a:r>
          </a:p>
          <a:p>
            <a:r>
              <a:t>WSKAŻ: po lewej bieżącą parę i pseudokod; po prawej dwa rozłączne odcinki [20,30) i [70,80), oba z maksimum 2. Są kreskowane i opisane tekstem. To dwa różne scenariusze na zrzutach. Reset animacji nie usuwa końcowego wyniku.</a:t>
            </a:r>
          </a:p>
          <a:p>
            <a:r>
              <a:t>REALIZACJA: agent przygotowywał kod i animację, później uprościł interfejs i dodał osobną oś maksimum, zgodnie z uwagami autora.</a:t>
            </a:r>
          </a:p>
          <a:p>
            <a:r>
              <a:t>PRZEJŚCIE: „Teraz zobaczmy, jak kontrolowano obliczenia”.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Porównano liczenie zdarzeń z liczeniem co jednostkę czasu. Dla 5, 15 i 30 przedziałów zgodziły się maksima i wszystkie odcinki. To liczniki operacji, nie pomiar szybkości komputera. Wyniki testów pochodzą z zapisanego raportu agenta.</a:t>
            </a:r>
          </a:p>
          <a:p/>
          <a:p>
            <a:r>
              <a:t>DODATKOWE SZCZEGÓŁY — TYLKO W RAZIE PYTAŃ</a:t>
            </a:r>
          </a:p>
          <a:p>
            <a:r>
              <a:t>POWIEDZ: „Metoda zdarzeń i metoda jednostkowa zgodziły się dla trzech rozmiarów danych. Porównuję maksimum i wszystkie odcinki, nie liczbę konfliktujących par”.</a:t>
            </a:r>
          </a:p>
          <a:p>
            <a:r>
              <a:t>WSKAŻ: wiersz n=30: maksimum 15, 60 zdarzeń i 3000 sprawdzeń przedziału. To różne operacje, a nie milisekundy. Do zdarzeń dochodzi przygotowanie i sortowanie: odpowiednio 11, 184, 856 porównań; 2,156,798 przesunięć; 9,29,59 wstawień.</a:t>
            </a:r>
          </a:p>
          <a:p>
            <a:r>
              <a:t>POCHODZENIE: wyniki z raportu agenta z 26.10.2026, nie nowa seria testów podczas przeróbki slajdów. Raport: 46/46 testów algorytmów i osobno 15/15 kontroli interfejsu, Firefox, lokalny file://.</a:t>
            </a:r>
          </a:p>
          <a:p>
            <a:r>
              <a:t>PRZYKŁADY KONTROLI: styk → brak konfliktu; dwa oddzielne maksima → dwa zakresy; puste dane → 0. Testy nie dowodzą poprawności dla wszystkich danych. Nie sprawdzano PowerPointa na Macu.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Przy realizacji projektu korzystałem z agenta OpenClaw, do którego podłączony był Codex Sol 6.1 z ustawieniem rozumowania medium. Agent przygotowywał kod, animację, testy i materiały. Mój wkład to określanie oczekiwań, wybór układu i nazw oraz uwagi i zlecanie poprawek. Wyniki AI sprawdzano na konkretnych przykładach i przez porównanie metod. Testy nie gwarantują poprawności dla wszystkich danych.</a:t>
            </a:r>
          </a:p>
          <a:p/>
          <a:p>
            <a:r>
              <a:t>DODATKOWE SZCZEGÓŁY — TYLKO W RAZIE PYTAŃ</a:t>
            </a:r>
          </a:p>
          <a:p>
            <a:r>
              <a:t>POWIEDZ: „Różnica między &lt; i ≤ zmienia sens wyniku. Trzeba też odróżnić liczbę par od liczby aktywnych rezerwacji oraz krok od końcowego maksimum”.</a:t>
            </a:r>
          </a:p>
          <a:p>
            <a:r>
              <a:t>WKŁAD: autor określał oczekiwania, wybierał układ i nazwy, zgłaszał uwagi i zlecał poprawki. Agent przygotowywał kod, algorytmy, animację, testy i materiały, uprościł interfejs i dodał oś maksimum. ChatGPT/Codex pomagał też w przeglądzie i wskazówkach. Nie przypisuję autorowi napisania kodu ani testów agenta.</a:t>
            </a:r>
          </a:p>
          <a:p>
            <a:r>
              <a:t>INFORMACJA AUTORA: „Przy realizacji projektu korzystałem z agenta OpenClaw, do którego podłączony był Codex Sol 6.1 z ustawieniem rozumowania medium”. Nazwa konfiguracji pochodzi od autora.</a:t>
            </a:r>
          </a:p>
          <a:p>
            <a:r>
              <a:t>KONTROLA AI: karta kontra kod, konkretne oczekiwania, stany pośrednie, zgodność metod i wykonanie w przeglądarce. Nie dowodzi to poprawności dla wszystkich danych.</a:t>
            </a:r>
          </a:p>
          <a:p>
            <a:r>
              <a:t>ŹRÓDŁA: karta ASD1-M1-17; kod; WYNIKI-AKTUALNE.json; MDN https://developer.mozilla.org; Princeton https://algs4.cs.princeton.edu/25applications/.</a:t>
            </a:r>
          </a:p>
          <a:p>
            <a:r>
              <a:t>FORMALNOŚCI: brak potwierdzenia publikacji GitHub i przekazania linku w Dzienniku.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Teraz przechodzę do działającego programu. Najpierw pokażę przykład i wszystkie metody, potem kilka kroków dokładnie. Zmienię dane, sprawdzę styk i dwa oddzielne maksima. Na końcu pokażę porównanie oraz stronę testów.</a:t>
            </a:r>
          </a:p>
          <a:p/>
          <a:p>
            <a:r>
              <a:t>DODATKOWE SZCZEGÓŁY — TYLKO W RAZIE PYTAŃ</a:t>
            </a:r>
          </a:p>
          <a:p>
            <a:r>
              <a:t>PLAN, NIE DEKLARACJA WYKONANEGO POKAZU.</a:t>
            </a:r>
          </a:p>
          <a:p>
            <a:r>
              <a:t>1. Otwórz index.html i scenariusz 1. Pokaż wszystkie pięć metod: konflikty, pokrycie, zdarzenia, maksimum, jednostki. Dla A=[1,4), B=[2,5), C=[5,7) oczekuj: jedna para A–B, pokrycie [1,7), maksimum 2 na [2,4).</a:t>
            </a:r>
          </a:p>
          <a:p>
            <a:r>
              <a:t>2. Konflikty przejdź krok po kroku. Wskaż parę, lewa, prawa, warunek i linię pseudokodu. Przy zdarzeniach wyjaśnij wspólny czas i kolejność −1 przed +1. Pokaż Start/Pauza, tempo, Reset oraz pytanie o bieżący stan.</a:t>
            </a:r>
          </a:p>
          <a:p>
            <a:r>
              <a:t>3. Zmień dane na żywo: [1,4), [4,7) → brak konfliktu. Wczytaj scenariusz 3: maksimum 2 na [20,30) i [70,80).</a:t>
            </a:r>
          </a:p>
          <a:p>
            <a:r>
              <a:t>4. Pokaż porównanie 5/15/30 i uruchom tests.html. Odczytaj faktyczny wynik, nie zakładaj z góry PASS.</a:t>
            </a:r>
          </a:p>
          <a:p>
            <a:r>
              <a:t>Po slajdzie 10 przejdź do produktu; nie ma kolejnego slajdu.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72F"/>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100" b="1">
                <a:solidFill>
                  <a:srgbClr val="A8D8C4"/>
                </a:solidFill>
                <a:latin typeface="DejaVu Sans"/>
              </a:defRPr>
            </a:pPr>
            <a:r>
              <a:t>PRZEDZIAŁY I ZDARZENIA NA OSI CZASU</a:t>
            </a:r>
          </a:p>
        </p:txBody>
      </p:sp>
      <p:sp>
        <p:nvSpPr>
          <p:cNvPr id="3" name="TextBox 2"/>
          <p:cNvSpPr txBox="1"/>
          <p:nvPr/>
        </p:nvSpPr>
        <p:spPr>
          <a:xfrm>
            <a:off x="594360" y="859536"/>
            <a:ext cx="11064240" cy="914400"/>
          </a:xfrm>
          <a:prstGeom prst="rect">
            <a:avLst/>
          </a:prstGeom>
          <a:noFill/>
        </p:spPr>
        <p:txBody>
          <a:bodyPr wrap="square" lIns="0" rIns="0" tIns="0" bIns="0">
            <a:spAutoFit/>
          </a:bodyPr>
          <a:lstStyle/>
          <a:p>
            <a:pPr>
              <a:spcAft>
                <a:spcPts val="1000"/>
              </a:spcAft>
              <a:defRPr sz="3400" b="1">
                <a:solidFill>
                  <a:srgbClr val="FFFFFF"/>
                </a:solidFill>
                <a:latin typeface="DejaVu Sans"/>
              </a:defRPr>
            </a:pPr>
            <a:r>
              <a:t>Rezerwacje sali</a:t>
            </a:r>
          </a:p>
        </p:txBody>
      </p:sp>
      <p:sp>
        <p:nvSpPr>
          <p:cNvPr id="4" name="Rectangle 3"/>
          <p:cNvSpPr/>
          <p:nvPr/>
        </p:nvSpPr>
        <p:spPr>
          <a:xfrm>
            <a:off x="594360" y="6400800"/>
            <a:ext cx="10972800" cy="10972"/>
          </a:xfrm>
          <a:prstGeom prst="rect">
            <a:avLst/>
          </a:prstGeom>
          <a:solidFill>
            <a:srgbClr val="4162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10058400" cy="182880"/>
          </a:xfrm>
          <a:prstGeom prst="rect">
            <a:avLst/>
          </a:prstGeom>
          <a:noFill/>
        </p:spPr>
        <p:txBody>
          <a:bodyPr wrap="square" lIns="0" rIns="0" tIns="0" bIns="0">
            <a:spAutoFit/>
          </a:bodyPr>
          <a:lstStyle/>
          <a:p>
            <a:pPr>
              <a:spcAft>
                <a:spcPts val="1000"/>
              </a:spcAft>
              <a:defRPr sz="900" b="0">
                <a:solidFill>
                  <a:srgbClr val="B4CCBF"/>
                </a:solidFill>
                <a:latin typeface="DejaVu Sans"/>
              </a:defRPr>
            </a:pPr>
            <a:r>
              <a:t>ASD1-M1-17  /  Deividas Dirma  /  93791</a:t>
            </a:r>
          </a:p>
        </p:txBody>
      </p:sp>
      <p:sp>
        <p:nvSpPr>
          <p:cNvPr id="6" name="TextBox 5"/>
          <p:cNvSpPr txBox="1"/>
          <p:nvPr/>
        </p:nvSpPr>
        <p:spPr>
          <a:xfrm>
            <a:off x="10972800" y="6519672"/>
            <a:ext cx="640080" cy="228600"/>
          </a:xfrm>
          <a:prstGeom prst="rect">
            <a:avLst/>
          </a:prstGeom>
          <a:noFill/>
        </p:spPr>
        <p:txBody>
          <a:bodyPr wrap="square" lIns="0" rIns="0" tIns="0" bIns="0">
            <a:spAutoFit/>
          </a:bodyPr>
          <a:lstStyle/>
          <a:p>
            <a:pPr>
              <a:spcAft>
                <a:spcPts val="1000"/>
              </a:spcAft>
              <a:defRPr sz="1000" b="0">
                <a:solidFill>
                  <a:srgbClr val="B4CCBF"/>
                </a:solidFill>
                <a:latin typeface="DejaVu Sans"/>
              </a:defRPr>
            </a:pPr>
            <a:r>
              <a:t>01/10</a:t>
            </a:r>
          </a:p>
        </p:txBody>
      </p:sp>
      <p:sp>
        <p:nvSpPr>
          <p:cNvPr id="7" name="TextBox 6"/>
          <p:cNvSpPr txBox="1"/>
          <p:nvPr/>
        </p:nvSpPr>
        <p:spPr>
          <a:xfrm>
            <a:off x="640080" y="2057400"/>
            <a:ext cx="6309360" cy="1645920"/>
          </a:xfrm>
          <a:prstGeom prst="rect">
            <a:avLst/>
          </a:prstGeom>
          <a:noFill/>
        </p:spPr>
        <p:txBody>
          <a:bodyPr wrap="square" lIns="0" rIns="0" tIns="0" bIns="0">
            <a:spAutoFit/>
          </a:bodyPr>
          <a:lstStyle/>
          <a:p>
            <a:pPr>
              <a:spcAft>
                <a:spcPts val="1000"/>
              </a:spcAft>
              <a:defRPr sz="2800" b="1">
                <a:solidFill>
                  <a:srgbClr val="FFFFFF"/>
                </a:solidFill>
                <a:latin typeface="DejaVu Sans"/>
              </a:defRPr>
            </a:pPr>
            <a:r>
              <a:t>Które rezerwacje się nakładają?</a:t>
            </a:r>
          </a:p>
          <a:p>
            <a:pPr>
              <a:spcAft>
                <a:spcPts val="1000"/>
              </a:spcAft>
              <a:defRPr sz="3200" b="1">
                <a:solidFill>
                  <a:srgbClr val="FFFFFF"/>
                </a:solidFill>
                <a:latin typeface="DejaVu Sans"/>
              </a:defRPr>
            </a:pPr>
            <a:r>
              <a:t>Kiedy jest najwięcej rezerwacji?</a:t>
            </a:r>
          </a:p>
        </p:txBody>
      </p:sp>
      <p:sp>
        <p:nvSpPr>
          <p:cNvPr id="8" name="TextBox 7"/>
          <p:cNvSpPr txBox="1"/>
          <p:nvPr/>
        </p:nvSpPr>
        <p:spPr>
          <a:xfrm>
            <a:off x="640080" y="4251960"/>
            <a:ext cx="5943600" cy="1005840"/>
          </a:xfrm>
          <a:prstGeom prst="rect">
            <a:avLst/>
          </a:prstGeom>
          <a:noFill/>
        </p:spPr>
        <p:txBody>
          <a:bodyPr wrap="square" lIns="0" rIns="0" tIns="0" bIns="0">
            <a:spAutoFit/>
          </a:bodyPr>
          <a:lstStyle/>
          <a:p>
            <a:pPr>
              <a:spcAft>
                <a:spcPts val="1000"/>
              </a:spcAft>
              <a:defRPr sz="2100" b="0">
                <a:solidFill>
                  <a:srgbClr val="A8D8C4"/>
                </a:solidFill>
                <a:latin typeface="DejaVu Sans"/>
              </a:defRPr>
            </a:pPr>
            <a:r>
              <a:t>Deividas Dirma · indeks 93791</a:t>
            </a:r>
          </a:p>
          <a:p>
            <a:pPr>
              <a:spcAft>
                <a:spcPts val="1000"/>
              </a:spcAft>
              <a:defRPr sz="2100" b="0">
                <a:solidFill>
                  <a:srgbClr val="A8D8C4"/>
                </a:solidFill>
                <a:latin typeface="DejaVu Sans"/>
              </a:defRPr>
            </a:pPr>
            <a:r>
              <a:t>Algorytmy i struktury danych I</a:t>
            </a:r>
          </a:p>
        </p:txBody>
      </p:sp>
      <p:sp>
        <p:nvSpPr>
          <p:cNvPr id="9" name="Rounded Rectangle 8"/>
          <p:cNvSpPr/>
          <p:nvPr/>
        </p:nvSpPr>
        <p:spPr>
          <a:xfrm>
            <a:off x="7955279" y="2011680"/>
            <a:ext cx="3566160" cy="868680"/>
          </a:xfrm>
          <a:prstGeom prst="roundRect">
            <a:avLst/>
          </a:prstGeom>
          <a:solidFill>
            <a:srgbClr val="254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2231136"/>
            <a:ext cx="594360" cy="365760"/>
          </a:xfrm>
          <a:prstGeom prst="rect">
            <a:avLst/>
          </a:prstGeom>
          <a:noFill/>
        </p:spPr>
        <p:txBody>
          <a:bodyPr wrap="square" lIns="0" rIns="0" tIns="0" bIns="0">
            <a:spAutoFit/>
          </a:bodyPr>
          <a:lstStyle/>
          <a:p>
            <a:pPr>
              <a:spcAft>
                <a:spcPts val="1000"/>
              </a:spcAft>
              <a:defRPr sz="1900" b="1">
                <a:solidFill>
                  <a:srgbClr val="A8D8C4"/>
                </a:solidFill>
                <a:latin typeface="DejaVu Sans"/>
              </a:defRPr>
            </a:pPr>
            <a:r>
              <a:t>01</a:t>
            </a:r>
          </a:p>
        </p:txBody>
      </p:sp>
      <p:sp>
        <p:nvSpPr>
          <p:cNvPr id="11" name="TextBox 10"/>
          <p:cNvSpPr txBox="1"/>
          <p:nvPr/>
        </p:nvSpPr>
        <p:spPr>
          <a:xfrm>
            <a:off x="8823960" y="2249424"/>
            <a:ext cx="2560320" cy="365760"/>
          </a:xfrm>
          <a:prstGeom prst="rect">
            <a:avLst/>
          </a:prstGeom>
          <a:noFill/>
        </p:spPr>
        <p:txBody>
          <a:bodyPr wrap="square" lIns="0" rIns="0" tIns="0" bIns="0">
            <a:spAutoFit/>
          </a:bodyPr>
          <a:lstStyle/>
          <a:p>
            <a:pPr>
              <a:spcAft>
                <a:spcPts val="1000"/>
              </a:spcAft>
              <a:defRPr sz="1800" b="1">
                <a:solidFill>
                  <a:srgbClr val="FFFFFF"/>
                </a:solidFill>
                <a:latin typeface="DejaVu Sans"/>
              </a:defRPr>
            </a:pPr>
            <a:r>
              <a:t>NAKŁADANIE</a:t>
            </a:r>
          </a:p>
        </p:txBody>
      </p:sp>
      <p:sp>
        <p:nvSpPr>
          <p:cNvPr id="12" name="Rounded Rectangle 11"/>
          <p:cNvSpPr/>
          <p:nvPr/>
        </p:nvSpPr>
        <p:spPr>
          <a:xfrm>
            <a:off x="7955279" y="3154680"/>
            <a:ext cx="3566160" cy="868680"/>
          </a:xfrm>
          <a:prstGeom prst="roundRect">
            <a:avLst/>
          </a:prstGeom>
          <a:solidFill>
            <a:srgbClr val="254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3374136"/>
            <a:ext cx="594360" cy="365760"/>
          </a:xfrm>
          <a:prstGeom prst="rect">
            <a:avLst/>
          </a:prstGeom>
          <a:noFill/>
        </p:spPr>
        <p:txBody>
          <a:bodyPr wrap="square" lIns="0" rIns="0" tIns="0" bIns="0">
            <a:spAutoFit/>
          </a:bodyPr>
          <a:lstStyle/>
          <a:p>
            <a:pPr>
              <a:spcAft>
                <a:spcPts val="1000"/>
              </a:spcAft>
              <a:defRPr sz="1900" b="1">
                <a:solidFill>
                  <a:srgbClr val="A8D8C4"/>
                </a:solidFill>
                <a:latin typeface="DejaVu Sans"/>
              </a:defRPr>
            </a:pPr>
            <a:r>
              <a:t>02</a:t>
            </a:r>
          </a:p>
        </p:txBody>
      </p:sp>
      <p:sp>
        <p:nvSpPr>
          <p:cNvPr id="14" name="TextBox 13"/>
          <p:cNvSpPr txBox="1"/>
          <p:nvPr/>
        </p:nvSpPr>
        <p:spPr>
          <a:xfrm>
            <a:off x="8823960" y="3392424"/>
            <a:ext cx="2560320" cy="365760"/>
          </a:xfrm>
          <a:prstGeom prst="rect">
            <a:avLst/>
          </a:prstGeom>
          <a:noFill/>
        </p:spPr>
        <p:txBody>
          <a:bodyPr wrap="square" lIns="0" rIns="0" tIns="0" bIns="0">
            <a:spAutoFit/>
          </a:bodyPr>
          <a:lstStyle/>
          <a:p>
            <a:pPr>
              <a:spcAft>
                <a:spcPts val="1000"/>
              </a:spcAft>
              <a:defRPr sz="1800" b="1">
                <a:solidFill>
                  <a:srgbClr val="FFFFFF"/>
                </a:solidFill>
                <a:latin typeface="DejaVu Sans"/>
              </a:defRPr>
            </a:pPr>
            <a:r>
              <a:t>ZAJĘTY CZAS</a:t>
            </a:r>
          </a:p>
        </p:txBody>
      </p:sp>
      <p:sp>
        <p:nvSpPr>
          <p:cNvPr id="15" name="Rounded Rectangle 14"/>
          <p:cNvSpPr/>
          <p:nvPr/>
        </p:nvSpPr>
        <p:spPr>
          <a:xfrm>
            <a:off x="7955279" y="4297680"/>
            <a:ext cx="3566160" cy="868680"/>
          </a:xfrm>
          <a:prstGeom prst="roundRect">
            <a:avLst/>
          </a:prstGeom>
          <a:solidFill>
            <a:srgbClr val="254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4517136"/>
            <a:ext cx="594360" cy="365760"/>
          </a:xfrm>
          <a:prstGeom prst="rect">
            <a:avLst/>
          </a:prstGeom>
          <a:noFill/>
        </p:spPr>
        <p:txBody>
          <a:bodyPr wrap="square" lIns="0" rIns="0" tIns="0" bIns="0">
            <a:spAutoFit/>
          </a:bodyPr>
          <a:lstStyle/>
          <a:p>
            <a:pPr>
              <a:spcAft>
                <a:spcPts val="1000"/>
              </a:spcAft>
              <a:defRPr sz="1900" b="1">
                <a:solidFill>
                  <a:srgbClr val="A8D8C4"/>
                </a:solidFill>
                <a:latin typeface="DejaVu Sans"/>
              </a:defRPr>
            </a:pPr>
            <a:r>
              <a:t>03</a:t>
            </a:r>
          </a:p>
        </p:txBody>
      </p:sp>
      <p:sp>
        <p:nvSpPr>
          <p:cNvPr id="17" name="TextBox 16"/>
          <p:cNvSpPr txBox="1"/>
          <p:nvPr/>
        </p:nvSpPr>
        <p:spPr>
          <a:xfrm>
            <a:off x="8823960" y="4535424"/>
            <a:ext cx="2560320" cy="365760"/>
          </a:xfrm>
          <a:prstGeom prst="rect">
            <a:avLst/>
          </a:prstGeom>
          <a:noFill/>
        </p:spPr>
        <p:txBody>
          <a:bodyPr wrap="square" lIns="0" rIns="0" tIns="0" bIns="0">
            <a:spAutoFit/>
          </a:bodyPr>
          <a:lstStyle/>
          <a:p>
            <a:pPr>
              <a:spcAft>
                <a:spcPts val="1000"/>
              </a:spcAft>
              <a:defRPr sz="1500" b="1">
                <a:solidFill>
                  <a:srgbClr val="FFFFFF"/>
                </a:solidFill>
                <a:latin typeface="DejaVu Sans"/>
              </a:defRPr>
            </a:pPr>
            <a:r>
              <a:t>NAJWIĘCEJ NARAZ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5F0"/>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100" b="1">
                <a:solidFill>
                  <a:srgbClr val="11745B"/>
                </a:solidFill>
                <a:latin typeface="DejaVu Sans"/>
              </a:defRPr>
            </a:pPr>
            <a:r>
              <a:t>02 / PROBLEM, CEL I ODBIORCA</a:t>
            </a:r>
          </a:p>
        </p:txBody>
      </p:sp>
      <p:sp>
        <p:nvSpPr>
          <p:cNvPr id="3" name="TextBox 2"/>
          <p:cNvSpPr txBox="1"/>
          <p:nvPr/>
        </p:nvSpPr>
        <p:spPr>
          <a:xfrm>
            <a:off x="594360" y="859536"/>
            <a:ext cx="11064240" cy="914400"/>
          </a:xfrm>
          <a:prstGeom prst="rect">
            <a:avLst/>
          </a:prstGeom>
          <a:noFill/>
        </p:spPr>
        <p:txBody>
          <a:bodyPr wrap="square" lIns="0" rIns="0" tIns="0" bIns="0">
            <a:spAutoFit/>
          </a:bodyPr>
          <a:lstStyle/>
          <a:p>
            <a:pPr>
              <a:spcAft>
                <a:spcPts val="1000"/>
              </a:spcAft>
              <a:defRPr sz="3400" b="1">
                <a:solidFill>
                  <a:srgbClr val="17372F"/>
                </a:solidFill>
                <a:latin typeface="DejaVu Sans"/>
              </a:defRPr>
            </a:pPr>
            <a:r>
              <a:t>Trzy rezerwacje. Trzy różne pytania.</a:t>
            </a:r>
          </a:p>
        </p:txBody>
      </p:sp>
      <p:sp>
        <p:nvSpPr>
          <p:cNvPr id="4" name="Rectangle 3"/>
          <p:cNvSpPr/>
          <p:nvPr/>
        </p:nvSpPr>
        <p:spPr>
          <a:xfrm>
            <a:off x="594360" y="6400800"/>
            <a:ext cx="10972800" cy="10972"/>
          </a:xfrm>
          <a:prstGeom prst="rect">
            <a:avLst/>
          </a:prstGeom>
          <a:solidFill>
            <a:srgbClr val="CED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10058400" cy="182880"/>
          </a:xfrm>
          <a:prstGeom prst="rect">
            <a:avLst/>
          </a:prstGeom>
          <a:noFill/>
        </p:spPr>
        <p:txBody>
          <a:bodyPr wrap="square" lIns="0" rIns="0" tIns="0" bIns="0">
            <a:spAutoFit/>
          </a:bodyPr>
          <a:lstStyle/>
          <a:p>
            <a:pPr>
              <a:spcAft>
                <a:spcPts val="1000"/>
              </a:spcAft>
              <a:defRPr sz="900" b="0">
                <a:solidFill>
                  <a:srgbClr val="52675F"/>
                </a:solidFill>
                <a:latin typeface="DejaVu Sans"/>
              </a:defRPr>
            </a:pPr>
            <a:r>
              <a:t>ASD1-M1-17  /  Deividas Dirma  /  93791</a:t>
            </a:r>
          </a:p>
        </p:txBody>
      </p:sp>
      <p:sp>
        <p:nvSpPr>
          <p:cNvPr id="6" name="TextBox 5"/>
          <p:cNvSpPr txBox="1"/>
          <p:nvPr/>
        </p:nvSpPr>
        <p:spPr>
          <a:xfrm>
            <a:off x="10972800" y="6519672"/>
            <a:ext cx="640080" cy="228600"/>
          </a:xfrm>
          <a:prstGeom prst="rect">
            <a:avLst/>
          </a:prstGeom>
          <a:noFill/>
        </p:spPr>
        <p:txBody>
          <a:bodyPr wrap="square" lIns="0" rIns="0" tIns="0" bIns="0">
            <a:spAutoFit/>
          </a:bodyPr>
          <a:lstStyle/>
          <a:p>
            <a:pPr>
              <a:spcAft>
                <a:spcPts val="1000"/>
              </a:spcAft>
              <a:defRPr sz="1000" b="0">
                <a:solidFill>
                  <a:srgbClr val="52675F"/>
                </a:solidFill>
                <a:latin typeface="DejaVu Sans"/>
              </a:defRPr>
            </a:pPr>
            <a:r>
              <a:t>02/10</a:t>
            </a:r>
          </a:p>
        </p:txBody>
      </p:sp>
      <p:sp>
        <p:nvSpPr>
          <p:cNvPr id="7" name="Rectangle 6"/>
          <p:cNvSpPr/>
          <p:nvPr/>
        </p:nvSpPr>
        <p:spPr>
          <a:xfrm>
            <a:off x="1097280" y="1965960"/>
            <a:ext cx="10972" cy="2377440"/>
          </a:xfrm>
          <a:prstGeom prst="rect">
            <a:avLst/>
          </a:prstGeom>
          <a:solidFill>
            <a:srgbClr val="D2D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4434840"/>
            <a:ext cx="365760" cy="274320"/>
          </a:xfrm>
          <a:prstGeom prst="rect">
            <a:avLst/>
          </a:prstGeom>
          <a:noFill/>
        </p:spPr>
        <p:txBody>
          <a:bodyPr wrap="square" lIns="0" rIns="0" tIns="0" bIns="0">
            <a:spAutoFit/>
          </a:bodyPr>
          <a:lstStyle/>
          <a:p>
            <a:pPr>
              <a:spcAft>
                <a:spcPts val="1000"/>
              </a:spcAft>
              <a:defRPr sz="1200" b="0">
                <a:solidFill>
                  <a:srgbClr val="52675F"/>
                </a:solidFill>
                <a:latin typeface="DejaVu Sans"/>
              </a:defRPr>
            </a:pPr>
            <a:r>
              <a:t>0</a:t>
            </a:r>
          </a:p>
        </p:txBody>
      </p:sp>
      <p:sp>
        <p:nvSpPr>
          <p:cNvPr id="9" name="Rectangle 8"/>
          <p:cNvSpPr/>
          <p:nvPr/>
        </p:nvSpPr>
        <p:spPr>
          <a:xfrm>
            <a:off x="1805940" y="1965960"/>
            <a:ext cx="10972" cy="2377440"/>
          </a:xfrm>
          <a:prstGeom prst="rect">
            <a:avLst/>
          </a:prstGeom>
          <a:solidFill>
            <a:srgbClr val="D2D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32788" y="4434840"/>
            <a:ext cx="365760" cy="274320"/>
          </a:xfrm>
          <a:prstGeom prst="rect">
            <a:avLst/>
          </a:prstGeom>
          <a:noFill/>
        </p:spPr>
        <p:txBody>
          <a:bodyPr wrap="square" lIns="0" rIns="0" tIns="0" bIns="0">
            <a:spAutoFit/>
          </a:bodyPr>
          <a:lstStyle/>
          <a:p>
            <a:pPr>
              <a:spcAft>
                <a:spcPts val="1000"/>
              </a:spcAft>
              <a:defRPr sz="1200" b="0">
                <a:solidFill>
                  <a:srgbClr val="52675F"/>
                </a:solidFill>
                <a:latin typeface="DejaVu Sans"/>
              </a:defRPr>
            </a:pPr>
            <a:r>
              <a:t>1</a:t>
            </a:r>
          </a:p>
        </p:txBody>
      </p:sp>
      <p:sp>
        <p:nvSpPr>
          <p:cNvPr id="11" name="Rectangle 10"/>
          <p:cNvSpPr/>
          <p:nvPr/>
        </p:nvSpPr>
        <p:spPr>
          <a:xfrm>
            <a:off x="2514600" y="1965960"/>
            <a:ext cx="10972" cy="2377440"/>
          </a:xfrm>
          <a:prstGeom prst="rect">
            <a:avLst/>
          </a:prstGeom>
          <a:solidFill>
            <a:srgbClr val="D2D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41448" y="4434840"/>
            <a:ext cx="365760" cy="274320"/>
          </a:xfrm>
          <a:prstGeom prst="rect">
            <a:avLst/>
          </a:prstGeom>
          <a:noFill/>
        </p:spPr>
        <p:txBody>
          <a:bodyPr wrap="square" lIns="0" rIns="0" tIns="0" bIns="0">
            <a:spAutoFit/>
          </a:bodyPr>
          <a:lstStyle/>
          <a:p>
            <a:pPr>
              <a:spcAft>
                <a:spcPts val="1000"/>
              </a:spcAft>
              <a:defRPr sz="1200" b="0">
                <a:solidFill>
                  <a:srgbClr val="52675F"/>
                </a:solidFill>
                <a:latin typeface="DejaVu Sans"/>
              </a:defRPr>
            </a:pPr>
            <a:r>
              <a:t>2</a:t>
            </a:r>
          </a:p>
        </p:txBody>
      </p:sp>
      <p:sp>
        <p:nvSpPr>
          <p:cNvPr id="13" name="Rectangle 12"/>
          <p:cNvSpPr/>
          <p:nvPr/>
        </p:nvSpPr>
        <p:spPr>
          <a:xfrm>
            <a:off x="3223260" y="1965960"/>
            <a:ext cx="10972" cy="2377440"/>
          </a:xfrm>
          <a:prstGeom prst="rect">
            <a:avLst/>
          </a:prstGeom>
          <a:solidFill>
            <a:srgbClr val="D2D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50108" y="4434840"/>
            <a:ext cx="365760" cy="274320"/>
          </a:xfrm>
          <a:prstGeom prst="rect">
            <a:avLst/>
          </a:prstGeom>
          <a:noFill/>
        </p:spPr>
        <p:txBody>
          <a:bodyPr wrap="square" lIns="0" rIns="0" tIns="0" bIns="0">
            <a:spAutoFit/>
          </a:bodyPr>
          <a:lstStyle/>
          <a:p>
            <a:pPr>
              <a:spcAft>
                <a:spcPts val="1000"/>
              </a:spcAft>
              <a:defRPr sz="1200" b="0">
                <a:solidFill>
                  <a:srgbClr val="52675F"/>
                </a:solidFill>
                <a:latin typeface="DejaVu Sans"/>
              </a:defRPr>
            </a:pPr>
            <a:r>
              <a:t>3</a:t>
            </a:r>
          </a:p>
        </p:txBody>
      </p:sp>
      <p:sp>
        <p:nvSpPr>
          <p:cNvPr id="15" name="Rectangle 14"/>
          <p:cNvSpPr/>
          <p:nvPr/>
        </p:nvSpPr>
        <p:spPr>
          <a:xfrm>
            <a:off x="3931920" y="1965960"/>
            <a:ext cx="10972" cy="2377440"/>
          </a:xfrm>
          <a:prstGeom prst="rect">
            <a:avLst/>
          </a:prstGeom>
          <a:solidFill>
            <a:srgbClr val="D2D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58768" y="4434840"/>
            <a:ext cx="365760" cy="274320"/>
          </a:xfrm>
          <a:prstGeom prst="rect">
            <a:avLst/>
          </a:prstGeom>
          <a:noFill/>
        </p:spPr>
        <p:txBody>
          <a:bodyPr wrap="square" lIns="0" rIns="0" tIns="0" bIns="0">
            <a:spAutoFit/>
          </a:bodyPr>
          <a:lstStyle/>
          <a:p>
            <a:pPr>
              <a:spcAft>
                <a:spcPts val="1000"/>
              </a:spcAft>
              <a:defRPr sz="1200" b="0">
                <a:solidFill>
                  <a:srgbClr val="52675F"/>
                </a:solidFill>
                <a:latin typeface="DejaVu Sans"/>
              </a:defRPr>
            </a:pPr>
            <a:r>
              <a:t>4</a:t>
            </a:r>
          </a:p>
        </p:txBody>
      </p:sp>
      <p:sp>
        <p:nvSpPr>
          <p:cNvPr id="17" name="Rectangle 16"/>
          <p:cNvSpPr/>
          <p:nvPr/>
        </p:nvSpPr>
        <p:spPr>
          <a:xfrm>
            <a:off x="4640580" y="1965960"/>
            <a:ext cx="10972" cy="2377440"/>
          </a:xfrm>
          <a:prstGeom prst="rect">
            <a:avLst/>
          </a:prstGeom>
          <a:solidFill>
            <a:srgbClr val="D2D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67428" y="4434840"/>
            <a:ext cx="365760" cy="274320"/>
          </a:xfrm>
          <a:prstGeom prst="rect">
            <a:avLst/>
          </a:prstGeom>
          <a:noFill/>
        </p:spPr>
        <p:txBody>
          <a:bodyPr wrap="square" lIns="0" rIns="0" tIns="0" bIns="0">
            <a:spAutoFit/>
          </a:bodyPr>
          <a:lstStyle/>
          <a:p>
            <a:pPr>
              <a:spcAft>
                <a:spcPts val="1000"/>
              </a:spcAft>
              <a:defRPr sz="1200" b="0">
                <a:solidFill>
                  <a:srgbClr val="52675F"/>
                </a:solidFill>
                <a:latin typeface="DejaVu Sans"/>
              </a:defRPr>
            </a:pPr>
            <a:r>
              <a:t>5</a:t>
            </a:r>
          </a:p>
        </p:txBody>
      </p:sp>
      <p:sp>
        <p:nvSpPr>
          <p:cNvPr id="19" name="Rectangle 18"/>
          <p:cNvSpPr/>
          <p:nvPr/>
        </p:nvSpPr>
        <p:spPr>
          <a:xfrm>
            <a:off x="5349240" y="1965960"/>
            <a:ext cx="10972" cy="2377440"/>
          </a:xfrm>
          <a:prstGeom prst="rect">
            <a:avLst/>
          </a:prstGeom>
          <a:solidFill>
            <a:srgbClr val="D2D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76088" y="4434840"/>
            <a:ext cx="365760" cy="274320"/>
          </a:xfrm>
          <a:prstGeom prst="rect">
            <a:avLst/>
          </a:prstGeom>
          <a:noFill/>
        </p:spPr>
        <p:txBody>
          <a:bodyPr wrap="square" lIns="0" rIns="0" tIns="0" bIns="0">
            <a:spAutoFit/>
          </a:bodyPr>
          <a:lstStyle/>
          <a:p>
            <a:pPr>
              <a:spcAft>
                <a:spcPts val="1000"/>
              </a:spcAft>
              <a:defRPr sz="1200" b="0">
                <a:solidFill>
                  <a:srgbClr val="52675F"/>
                </a:solidFill>
                <a:latin typeface="DejaVu Sans"/>
              </a:defRPr>
            </a:pPr>
            <a:r>
              <a:t>6</a:t>
            </a:r>
          </a:p>
        </p:txBody>
      </p:sp>
      <p:sp>
        <p:nvSpPr>
          <p:cNvPr id="21" name="Rectangle 20"/>
          <p:cNvSpPr/>
          <p:nvPr/>
        </p:nvSpPr>
        <p:spPr>
          <a:xfrm>
            <a:off x="6057900" y="1965960"/>
            <a:ext cx="10972" cy="2377440"/>
          </a:xfrm>
          <a:prstGeom prst="rect">
            <a:avLst/>
          </a:prstGeom>
          <a:solidFill>
            <a:srgbClr val="D2D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84748" y="4434840"/>
            <a:ext cx="365760" cy="274320"/>
          </a:xfrm>
          <a:prstGeom prst="rect">
            <a:avLst/>
          </a:prstGeom>
          <a:noFill/>
        </p:spPr>
        <p:txBody>
          <a:bodyPr wrap="square" lIns="0" rIns="0" tIns="0" bIns="0">
            <a:spAutoFit/>
          </a:bodyPr>
          <a:lstStyle/>
          <a:p>
            <a:pPr>
              <a:spcAft>
                <a:spcPts val="1000"/>
              </a:spcAft>
              <a:defRPr sz="1200" b="0">
                <a:solidFill>
                  <a:srgbClr val="52675F"/>
                </a:solidFill>
                <a:latin typeface="DejaVu Sans"/>
              </a:defRPr>
            </a:pPr>
            <a:r>
              <a:t>7</a:t>
            </a:r>
          </a:p>
        </p:txBody>
      </p:sp>
      <p:sp>
        <p:nvSpPr>
          <p:cNvPr id="23" name="Rectangle 22"/>
          <p:cNvSpPr/>
          <p:nvPr/>
        </p:nvSpPr>
        <p:spPr>
          <a:xfrm>
            <a:off x="6766560" y="1965960"/>
            <a:ext cx="10972" cy="2377440"/>
          </a:xfrm>
          <a:prstGeom prst="rect">
            <a:avLst/>
          </a:prstGeom>
          <a:solidFill>
            <a:srgbClr val="D2D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93408" y="4434840"/>
            <a:ext cx="365760" cy="274320"/>
          </a:xfrm>
          <a:prstGeom prst="rect">
            <a:avLst/>
          </a:prstGeom>
          <a:noFill/>
        </p:spPr>
        <p:txBody>
          <a:bodyPr wrap="square" lIns="0" rIns="0" tIns="0" bIns="0">
            <a:spAutoFit/>
          </a:bodyPr>
          <a:lstStyle/>
          <a:p>
            <a:pPr>
              <a:spcAft>
                <a:spcPts val="1000"/>
              </a:spcAft>
              <a:defRPr sz="1200" b="0">
                <a:solidFill>
                  <a:srgbClr val="52675F"/>
                </a:solidFill>
                <a:latin typeface="DejaVu Sans"/>
              </a:defRPr>
            </a:pPr>
            <a:r>
              <a:t>8</a:t>
            </a:r>
          </a:p>
        </p:txBody>
      </p:sp>
      <p:sp>
        <p:nvSpPr>
          <p:cNvPr id="25" name="TextBox 24"/>
          <p:cNvSpPr txBox="1"/>
          <p:nvPr/>
        </p:nvSpPr>
        <p:spPr>
          <a:xfrm>
            <a:off x="640080" y="2194560"/>
            <a:ext cx="365760" cy="365760"/>
          </a:xfrm>
          <a:prstGeom prst="rect">
            <a:avLst/>
          </a:prstGeom>
          <a:noFill/>
        </p:spPr>
        <p:txBody>
          <a:bodyPr wrap="square" lIns="0" rIns="0" tIns="0" bIns="0">
            <a:spAutoFit/>
          </a:bodyPr>
          <a:lstStyle/>
          <a:p>
            <a:pPr>
              <a:spcAft>
                <a:spcPts val="1000"/>
              </a:spcAft>
              <a:defRPr sz="2100" b="1">
                <a:solidFill>
                  <a:srgbClr val="11745B"/>
                </a:solidFill>
                <a:latin typeface="DejaVu Sans"/>
              </a:defRPr>
            </a:pPr>
            <a:r>
              <a:t>A</a:t>
            </a:r>
          </a:p>
        </p:txBody>
      </p:sp>
      <p:sp>
        <p:nvSpPr>
          <p:cNvPr id="26" name="Rectangle 25"/>
          <p:cNvSpPr/>
          <p:nvPr/>
        </p:nvSpPr>
        <p:spPr>
          <a:xfrm>
            <a:off x="1805940" y="2240279"/>
            <a:ext cx="2125980" cy="228600"/>
          </a:xfrm>
          <a:prstGeom prst="rect">
            <a:avLst/>
          </a:prstGeom>
          <a:solidFill>
            <a:srgbClr val="117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746504" y="2290572"/>
            <a:ext cx="128016" cy="128016"/>
          </a:xfrm>
          <a:prstGeom prst="ellipse">
            <a:avLst/>
          </a:prstGeom>
          <a:solidFill>
            <a:srgbClr val="11745B"/>
          </a:solidFill>
          <a:ln>
            <a:solidFill>
              <a:srgbClr val="117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872483" y="2290572"/>
            <a:ext cx="128016" cy="128016"/>
          </a:xfrm>
          <a:prstGeom prst="ellipse">
            <a:avLst/>
          </a:prstGeom>
          <a:solidFill>
            <a:srgbClr val="F4F5F0"/>
          </a:solidFill>
          <a:ln>
            <a:solidFill>
              <a:srgbClr val="117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2889504"/>
            <a:ext cx="365760" cy="365760"/>
          </a:xfrm>
          <a:prstGeom prst="rect">
            <a:avLst/>
          </a:prstGeom>
          <a:noFill/>
        </p:spPr>
        <p:txBody>
          <a:bodyPr wrap="square" lIns="0" rIns="0" tIns="0" bIns="0">
            <a:spAutoFit/>
          </a:bodyPr>
          <a:lstStyle/>
          <a:p>
            <a:pPr>
              <a:spcAft>
                <a:spcPts val="1000"/>
              </a:spcAft>
              <a:defRPr sz="2100" b="1">
                <a:solidFill>
                  <a:srgbClr val="BB572F"/>
                </a:solidFill>
                <a:latin typeface="DejaVu Sans"/>
              </a:defRPr>
            </a:pPr>
            <a:r>
              <a:t>B</a:t>
            </a:r>
          </a:p>
        </p:txBody>
      </p:sp>
      <p:sp>
        <p:nvSpPr>
          <p:cNvPr id="30" name="Rectangle 29"/>
          <p:cNvSpPr/>
          <p:nvPr/>
        </p:nvSpPr>
        <p:spPr>
          <a:xfrm>
            <a:off x="2514600" y="2935224"/>
            <a:ext cx="2125980" cy="228600"/>
          </a:xfrm>
          <a:prstGeom prst="rect">
            <a:avLst/>
          </a:prstGeom>
          <a:solidFill>
            <a:srgbClr val="BB57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455164" y="2985516"/>
            <a:ext cx="128016" cy="128016"/>
          </a:xfrm>
          <a:prstGeom prst="ellipse">
            <a:avLst/>
          </a:prstGeom>
          <a:solidFill>
            <a:srgbClr val="BB572F"/>
          </a:solidFill>
          <a:ln>
            <a:solidFill>
              <a:srgbClr val="BB57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81144" y="2985516"/>
            <a:ext cx="128016" cy="128016"/>
          </a:xfrm>
          <a:prstGeom prst="ellipse">
            <a:avLst/>
          </a:prstGeom>
          <a:solidFill>
            <a:srgbClr val="F4F5F0"/>
          </a:solidFill>
          <a:ln>
            <a:solidFill>
              <a:srgbClr val="BB57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3584448"/>
            <a:ext cx="365760" cy="365760"/>
          </a:xfrm>
          <a:prstGeom prst="rect">
            <a:avLst/>
          </a:prstGeom>
          <a:noFill/>
        </p:spPr>
        <p:txBody>
          <a:bodyPr wrap="square" lIns="0" rIns="0" tIns="0" bIns="0">
            <a:spAutoFit/>
          </a:bodyPr>
          <a:lstStyle/>
          <a:p>
            <a:pPr>
              <a:spcAft>
                <a:spcPts val="1000"/>
              </a:spcAft>
              <a:defRPr sz="2100" b="1">
                <a:solidFill>
                  <a:srgbClr val="547B9C"/>
                </a:solidFill>
                <a:latin typeface="DejaVu Sans"/>
              </a:defRPr>
            </a:pPr>
            <a:r>
              <a:t>C</a:t>
            </a:r>
          </a:p>
        </p:txBody>
      </p:sp>
      <p:sp>
        <p:nvSpPr>
          <p:cNvPr id="34" name="Rectangle 33"/>
          <p:cNvSpPr/>
          <p:nvPr/>
        </p:nvSpPr>
        <p:spPr>
          <a:xfrm>
            <a:off x="4640580" y="3630168"/>
            <a:ext cx="1417320" cy="228600"/>
          </a:xfrm>
          <a:prstGeom prst="rect">
            <a:avLst/>
          </a:prstGeom>
          <a:solidFill>
            <a:srgbClr val="547B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581144" y="3680459"/>
            <a:ext cx="128016" cy="128016"/>
          </a:xfrm>
          <a:prstGeom prst="ellipse">
            <a:avLst/>
          </a:prstGeom>
          <a:solidFill>
            <a:srgbClr val="547B9C"/>
          </a:solidFill>
          <a:ln>
            <a:solidFill>
              <a:srgbClr val="547B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998464" y="3680459"/>
            <a:ext cx="128016" cy="128016"/>
          </a:xfrm>
          <a:prstGeom prst="ellipse">
            <a:avLst/>
          </a:prstGeom>
          <a:solidFill>
            <a:srgbClr val="F4F5F0"/>
          </a:solidFill>
          <a:ln>
            <a:solidFill>
              <a:srgbClr val="547B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60920" y="1938528"/>
            <a:ext cx="4114800" cy="274320"/>
          </a:xfrm>
          <a:prstGeom prst="rect">
            <a:avLst/>
          </a:prstGeom>
          <a:noFill/>
        </p:spPr>
        <p:txBody>
          <a:bodyPr wrap="square" lIns="0" rIns="0" tIns="0" bIns="0">
            <a:spAutoFit/>
          </a:bodyPr>
          <a:lstStyle/>
          <a:p>
            <a:pPr>
              <a:spcAft>
                <a:spcPts val="1000"/>
              </a:spcAft>
              <a:defRPr sz="1200" b="1">
                <a:solidFill>
                  <a:srgbClr val="11745B"/>
                </a:solidFill>
                <a:latin typeface="DejaVu Sans"/>
              </a:defRPr>
            </a:pPr>
            <a:r>
              <a:t>Które rezerwacje się nakładają? (konflikty)</a:t>
            </a:r>
          </a:p>
        </p:txBody>
      </p:sp>
      <p:sp>
        <p:nvSpPr>
          <p:cNvPr id="38" name="TextBox 37"/>
          <p:cNvSpPr txBox="1"/>
          <p:nvPr/>
        </p:nvSpPr>
        <p:spPr>
          <a:xfrm>
            <a:off x="7360920" y="2331720"/>
            <a:ext cx="4297680" cy="548640"/>
          </a:xfrm>
          <a:prstGeom prst="rect">
            <a:avLst/>
          </a:prstGeom>
          <a:noFill/>
        </p:spPr>
        <p:txBody>
          <a:bodyPr wrap="square" lIns="0" rIns="0" tIns="0" bIns="0">
            <a:spAutoFit/>
          </a:bodyPr>
          <a:lstStyle/>
          <a:p>
            <a:pPr>
              <a:spcAft>
                <a:spcPts val="1000"/>
              </a:spcAft>
              <a:defRPr sz="2500" b="0">
                <a:solidFill>
                  <a:srgbClr val="17372F"/>
                </a:solidFill>
                <a:latin typeface="DejaVu Sans"/>
              </a:defRPr>
            </a:pPr>
            <a:r>
              <a:t>A i B → [2,4)</a:t>
            </a:r>
          </a:p>
        </p:txBody>
      </p:sp>
      <p:sp>
        <p:nvSpPr>
          <p:cNvPr id="39" name="TextBox 38"/>
          <p:cNvSpPr txBox="1"/>
          <p:nvPr/>
        </p:nvSpPr>
        <p:spPr>
          <a:xfrm>
            <a:off x="7360920" y="3063240"/>
            <a:ext cx="4114800" cy="274320"/>
          </a:xfrm>
          <a:prstGeom prst="rect">
            <a:avLst/>
          </a:prstGeom>
          <a:noFill/>
        </p:spPr>
        <p:txBody>
          <a:bodyPr wrap="square" lIns="0" rIns="0" tIns="0" bIns="0">
            <a:spAutoFit/>
          </a:bodyPr>
          <a:lstStyle/>
          <a:p>
            <a:pPr>
              <a:spcAft>
                <a:spcPts val="1000"/>
              </a:spcAft>
              <a:defRPr sz="1200" b="1">
                <a:solidFill>
                  <a:srgbClr val="11745B"/>
                </a:solidFill>
                <a:latin typeface="DejaVu Sans"/>
              </a:defRPr>
            </a:pPr>
            <a:r>
              <a:t>Kiedy sala jest zajęta? (pokrycie)</a:t>
            </a:r>
          </a:p>
        </p:txBody>
      </p:sp>
      <p:sp>
        <p:nvSpPr>
          <p:cNvPr id="40" name="TextBox 39"/>
          <p:cNvSpPr txBox="1"/>
          <p:nvPr/>
        </p:nvSpPr>
        <p:spPr>
          <a:xfrm>
            <a:off x="7360920" y="3456432"/>
            <a:ext cx="4297680" cy="548640"/>
          </a:xfrm>
          <a:prstGeom prst="rect">
            <a:avLst/>
          </a:prstGeom>
          <a:noFill/>
        </p:spPr>
        <p:txBody>
          <a:bodyPr wrap="square" lIns="0" rIns="0" tIns="0" bIns="0">
            <a:spAutoFit/>
          </a:bodyPr>
          <a:lstStyle/>
          <a:p>
            <a:pPr>
              <a:spcAft>
                <a:spcPts val="1000"/>
              </a:spcAft>
              <a:defRPr sz="2500" b="0">
                <a:solidFill>
                  <a:srgbClr val="17372F"/>
                </a:solidFill>
                <a:latin typeface="DejaVu Sans"/>
              </a:defRPr>
            </a:pPr>
            <a:r>
              <a:t>[1,7) → długość 6</a:t>
            </a:r>
          </a:p>
        </p:txBody>
      </p:sp>
      <p:sp>
        <p:nvSpPr>
          <p:cNvPr id="41" name="TextBox 40"/>
          <p:cNvSpPr txBox="1"/>
          <p:nvPr/>
        </p:nvSpPr>
        <p:spPr>
          <a:xfrm>
            <a:off x="7360920" y="4187952"/>
            <a:ext cx="4114800" cy="274320"/>
          </a:xfrm>
          <a:prstGeom prst="rect">
            <a:avLst/>
          </a:prstGeom>
          <a:noFill/>
        </p:spPr>
        <p:txBody>
          <a:bodyPr wrap="square" lIns="0" rIns="0" tIns="0" bIns="0">
            <a:spAutoFit/>
          </a:bodyPr>
          <a:lstStyle/>
          <a:p>
            <a:pPr>
              <a:spcAft>
                <a:spcPts val="1000"/>
              </a:spcAft>
              <a:defRPr sz="1200" b="1">
                <a:solidFill>
                  <a:srgbClr val="11745B"/>
                </a:solidFill>
                <a:latin typeface="DejaVu Sans"/>
              </a:defRPr>
            </a:pPr>
            <a:r>
              <a:t>Najwięcej rezerwacji naraz (maksimum)</a:t>
            </a:r>
          </a:p>
        </p:txBody>
      </p:sp>
      <p:sp>
        <p:nvSpPr>
          <p:cNvPr id="42" name="TextBox 41"/>
          <p:cNvSpPr txBox="1"/>
          <p:nvPr/>
        </p:nvSpPr>
        <p:spPr>
          <a:xfrm>
            <a:off x="7360920" y="4581144"/>
            <a:ext cx="4297680" cy="548640"/>
          </a:xfrm>
          <a:prstGeom prst="rect">
            <a:avLst/>
          </a:prstGeom>
          <a:noFill/>
        </p:spPr>
        <p:txBody>
          <a:bodyPr wrap="square" lIns="0" rIns="0" tIns="0" bIns="0">
            <a:spAutoFit/>
          </a:bodyPr>
          <a:lstStyle/>
          <a:p>
            <a:pPr>
              <a:spcAft>
                <a:spcPts val="1000"/>
              </a:spcAft>
              <a:defRPr sz="2500" b="0">
                <a:solidFill>
                  <a:srgbClr val="17372F"/>
                </a:solidFill>
                <a:latin typeface="DejaVu Sans"/>
              </a:defRPr>
            </a:pPr>
            <a:r>
              <a:t>2 rezerwacje naraz → [2,4)</a:t>
            </a:r>
          </a:p>
        </p:txBody>
      </p:sp>
      <p:sp>
        <p:nvSpPr>
          <p:cNvPr id="43" name="Rounded Rectangle 42"/>
          <p:cNvSpPr/>
          <p:nvPr/>
        </p:nvSpPr>
        <p:spPr>
          <a:xfrm>
            <a:off x="594360" y="5596128"/>
            <a:ext cx="10972800" cy="566928"/>
          </a:xfrm>
          <a:prstGeom prst="roundRect">
            <a:avLst/>
          </a:prstGeom>
          <a:solidFill>
            <a:srgbClr val="DCE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2960" y="5733288"/>
            <a:ext cx="10515600" cy="365760"/>
          </a:xfrm>
          <a:prstGeom prst="rect">
            <a:avLst/>
          </a:prstGeom>
          <a:noFill/>
        </p:spPr>
        <p:txBody>
          <a:bodyPr wrap="square" lIns="0" rIns="0" tIns="0" bIns="0">
            <a:spAutoFit/>
          </a:bodyPr>
          <a:lstStyle/>
          <a:p>
            <a:pPr>
              <a:spcAft>
                <a:spcPts val="1000"/>
              </a:spcAft>
              <a:defRPr sz="1900" b="1">
                <a:solidFill>
                  <a:srgbClr val="11745B"/>
                </a:solidFill>
                <a:latin typeface="DejaVu Sans"/>
              </a:defRPr>
            </a:pPr>
            <a:r>
              <a:t>Cel: zrozumieć wynik i umieć przewidzieć kolejny krok.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5F0"/>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100" b="1">
                <a:solidFill>
                  <a:srgbClr val="11745B"/>
                </a:solidFill>
                <a:latin typeface="DejaVu Sans"/>
              </a:defRPr>
            </a:pPr>
            <a:r>
              <a:t>03 / ZAKRES PROJEKTU</a:t>
            </a:r>
          </a:p>
        </p:txBody>
      </p:sp>
      <p:sp>
        <p:nvSpPr>
          <p:cNvPr id="3" name="TextBox 2"/>
          <p:cNvSpPr txBox="1"/>
          <p:nvPr/>
        </p:nvSpPr>
        <p:spPr>
          <a:xfrm>
            <a:off x="594360" y="859536"/>
            <a:ext cx="11064240" cy="914400"/>
          </a:xfrm>
          <a:prstGeom prst="rect">
            <a:avLst/>
          </a:prstGeom>
          <a:noFill/>
        </p:spPr>
        <p:txBody>
          <a:bodyPr wrap="square" lIns="0" rIns="0" tIns="0" bIns="0">
            <a:spAutoFit/>
          </a:bodyPr>
          <a:lstStyle/>
          <a:p>
            <a:pPr>
              <a:spcAft>
                <a:spcPts val="1000"/>
              </a:spcAft>
              <a:defRPr sz="3400" b="1">
                <a:solidFill>
                  <a:srgbClr val="17372F"/>
                </a:solidFill>
                <a:latin typeface="DejaVu Sans"/>
              </a:defRPr>
            </a:pPr>
            <a:r>
              <a:t>Co można zrobić w programie?</a:t>
            </a:r>
          </a:p>
        </p:txBody>
      </p:sp>
      <p:sp>
        <p:nvSpPr>
          <p:cNvPr id="4" name="Rectangle 3"/>
          <p:cNvSpPr/>
          <p:nvPr/>
        </p:nvSpPr>
        <p:spPr>
          <a:xfrm>
            <a:off x="594360" y="6400800"/>
            <a:ext cx="10972800" cy="10972"/>
          </a:xfrm>
          <a:prstGeom prst="rect">
            <a:avLst/>
          </a:prstGeom>
          <a:solidFill>
            <a:srgbClr val="CED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10058400" cy="182880"/>
          </a:xfrm>
          <a:prstGeom prst="rect">
            <a:avLst/>
          </a:prstGeom>
          <a:noFill/>
        </p:spPr>
        <p:txBody>
          <a:bodyPr wrap="square" lIns="0" rIns="0" tIns="0" bIns="0">
            <a:spAutoFit/>
          </a:bodyPr>
          <a:lstStyle/>
          <a:p>
            <a:pPr>
              <a:spcAft>
                <a:spcPts val="1000"/>
              </a:spcAft>
              <a:defRPr sz="900" b="0">
                <a:solidFill>
                  <a:srgbClr val="52675F"/>
                </a:solidFill>
                <a:latin typeface="DejaVu Sans"/>
              </a:defRPr>
            </a:pPr>
            <a:r>
              <a:t>ASD1-M1-17  /  Deividas Dirma  /  93791</a:t>
            </a:r>
          </a:p>
        </p:txBody>
      </p:sp>
      <p:sp>
        <p:nvSpPr>
          <p:cNvPr id="6" name="TextBox 5"/>
          <p:cNvSpPr txBox="1"/>
          <p:nvPr/>
        </p:nvSpPr>
        <p:spPr>
          <a:xfrm>
            <a:off x="10972800" y="6519672"/>
            <a:ext cx="640080" cy="228600"/>
          </a:xfrm>
          <a:prstGeom prst="rect">
            <a:avLst/>
          </a:prstGeom>
          <a:noFill/>
        </p:spPr>
        <p:txBody>
          <a:bodyPr wrap="square" lIns="0" rIns="0" tIns="0" bIns="0">
            <a:spAutoFit/>
          </a:bodyPr>
          <a:lstStyle/>
          <a:p>
            <a:pPr>
              <a:spcAft>
                <a:spcPts val="1000"/>
              </a:spcAft>
              <a:defRPr sz="1000" b="0">
                <a:solidFill>
                  <a:srgbClr val="52675F"/>
                </a:solidFill>
                <a:latin typeface="DejaVu Sans"/>
              </a:defRPr>
            </a:pPr>
            <a:r>
              <a:t>03/10</a:t>
            </a:r>
          </a:p>
        </p:txBody>
      </p:sp>
      <p:sp>
        <p:nvSpPr>
          <p:cNvPr id="7" name="Rounded Rectangle 6"/>
          <p:cNvSpPr/>
          <p:nvPr/>
        </p:nvSpPr>
        <p:spPr>
          <a:xfrm>
            <a:off x="594360" y="2057400"/>
            <a:ext cx="347472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221992"/>
            <a:ext cx="3108960" cy="365760"/>
          </a:xfrm>
          <a:prstGeom prst="rect">
            <a:avLst/>
          </a:prstGeom>
          <a:noFill/>
        </p:spPr>
        <p:txBody>
          <a:bodyPr wrap="square" lIns="0" rIns="0" tIns="0" bIns="0">
            <a:spAutoFit/>
          </a:bodyPr>
          <a:lstStyle/>
          <a:p>
            <a:pPr>
              <a:spcAft>
                <a:spcPts val="1000"/>
              </a:spcAft>
              <a:defRPr sz="1300" b="1">
                <a:solidFill>
                  <a:srgbClr val="11745B"/>
                </a:solidFill>
                <a:latin typeface="DejaVu Sans"/>
              </a:defRPr>
            </a:pPr>
            <a:r>
              <a:t>1 / DANE</a:t>
            </a:r>
          </a:p>
        </p:txBody>
      </p:sp>
      <p:sp>
        <p:nvSpPr>
          <p:cNvPr id="9" name="TextBox 8"/>
          <p:cNvSpPr txBox="1"/>
          <p:nvPr/>
        </p:nvSpPr>
        <p:spPr>
          <a:xfrm>
            <a:off x="777240" y="2770632"/>
            <a:ext cx="3108960" cy="2377440"/>
          </a:xfrm>
          <a:prstGeom prst="rect">
            <a:avLst/>
          </a:prstGeom>
          <a:noFill/>
        </p:spPr>
        <p:txBody>
          <a:bodyPr wrap="square" lIns="0" rIns="0" tIns="0" bIns="0">
            <a:spAutoFit/>
          </a:bodyPr>
          <a:lstStyle/>
          <a:p>
            <a:pPr>
              <a:spcAft>
                <a:spcPts val="1000"/>
              </a:spcAft>
              <a:defRPr sz="2300" b="0">
                <a:solidFill>
                  <a:srgbClr val="17372F"/>
                </a:solidFill>
                <a:latin typeface="DejaVu Sans"/>
              </a:defRPr>
            </a:pPr>
            <a:r>
              <a:t>3 scenariusze</a:t>
            </a:r>
          </a:p>
          <a:p>
            <a:pPr>
              <a:spcAft>
                <a:spcPts val="1000"/>
              </a:spcAft>
              <a:defRPr sz="2300" b="0">
                <a:solidFill>
                  <a:srgbClr val="17372F"/>
                </a:solidFill>
                <a:latin typeface="DejaVu Sans"/>
              </a:defRPr>
            </a:pPr>
            <a:r>
              <a:t>Dodaj · edytuj · usuń</a:t>
            </a:r>
          </a:p>
          <a:p>
            <a:pPr>
              <a:spcAft>
                <a:spcPts val="1000"/>
              </a:spcAft>
              <a:defRPr sz="2300" b="0">
                <a:solidFill>
                  <a:srgbClr val="17372F"/>
                </a:solidFill>
                <a:latin typeface="DejaVu Sans"/>
              </a:defRPr>
            </a:pPr>
            <a:r>
              <a:t>Sprawdzanie danych</a:t>
            </a:r>
          </a:p>
        </p:txBody>
      </p:sp>
      <p:sp>
        <p:nvSpPr>
          <p:cNvPr id="10" name="Rounded Rectangle 9"/>
          <p:cNvSpPr/>
          <p:nvPr/>
        </p:nvSpPr>
        <p:spPr>
          <a:xfrm>
            <a:off x="4361688" y="2057400"/>
            <a:ext cx="347472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2221992"/>
            <a:ext cx="3108960" cy="365760"/>
          </a:xfrm>
          <a:prstGeom prst="rect">
            <a:avLst/>
          </a:prstGeom>
          <a:noFill/>
        </p:spPr>
        <p:txBody>
          <a:bodyPr wrap="square" lIns="0" rIns="0" tIns="0" bIns="0">
            <a:spAutoFit/>
          </a:bodyPr>
          <a:lstStyle/>
          <a:p>
            <a:pPr>
              <a:spcAft>
                <a:spcPts val="1000"/>
              </a:spcAft>
              <a:defRPr sz="1300" b="1">
                <a:solidFill>
                  <a:srgbClr val="11745B"/>
                </a:solidFill>
                <a:latin typeface="DejaVu Sans"/>
              </a:defRPr>
            </a:pPr>
            <a:r>
              <a:t>2 / OBLICZENIA</a:t>
            </a:r>
          </a:p>
        </p:txBody>
      </p:sp>
      <p:sp>
        <p:nvSpPr>
          <p:cNvPr id="12" name="TextBox 11"/>
          <p:cNvSpPr txBox="1"/>
          <p:nvPr/>
        </p:nvSpPr>
        <p:spPr>
          <a:xfrm>
            <a:off x="4544568" y="2770632"/>
            <a:ext cx="3108960" cy="2377440"/>
          </a:xfrm>
          <a:prstGeom prst="rect">
            <a:avLst/>
          </a:prstGeom>
          <a:noFill/>
        </p:spPr>
        <p:txBody>
          <a:bodyPr wrap="square" lIns="0" rIns="0" tIns="0" bIns="0">
            <a:spAutoFit/>
          </a:bodyPr>
          <a:lstStyle/>
          <a:p>
            <a:pPr>
              <a:spcAft>
                <a:spcPts val="1000"/>
              </a:spcAft>
              <a:defRPr sz="1700" b="0">
                <a:solidFill>
                  <a:srgbClr val="17372F"/>
                </a:solidFill>
                <a:latin typeface="DejaVu Sans"/>
              </a:defRPr>
            </a:pPr>
            <a:r>
              <a:t>Nakładanie (konflikty)</a:t>
            </a:r>
          </a:p>
          <a:p>
            <a:pPr>
              <a:spcAft>
                <a:spcPts val="1000"/>
              </a:spcAft>
              <a:defRPr sz="1700">
                <a:latin typeface="DejaVu Sans"/>
              </a:defRPr>
            </a:pPr>
            <a:r>
              <a:t>Zajęty czas (pokrycie)</a:t>
            </a:r>
          </a:p>
          <a:p>
            <a:pPr>
              <a:spcAft>
                <a:spcPts val="1000"/>
              </a:spcAft>
              <a:defRPr sz="1700">
                <a:latin typeface="DejaVu Sans"/>
              </a:defRPr>
            </a:pPr>
            <a:r>
              <a:t>Początki i końce (zdarzenia)</a:t>
            </a:r>
          </a:p>
          <a:p>
            <a:pPr>
              <a:spcAft>
                <a:spcPts val="1000"/>
              </a:spcAft>
              <a:defRPr sz="1700">
                <a:latin typeface="DejaVu Sans"/>
              </a:defRPr>
            </a:pPr>
            <a:r>
              <a:t>Najwięcej naraz (maksimum)</a:t>
            </a:r>
          </a:p>
          <a:p>
            <a:pPr>
              <a:spcAft>
                <a:spcPts val="1000"/>
              </a:spcAft>
              <a:defRPr sz="1700">
                <a:latin typeface="DejaVu Sans"/>
              </a:defRPr>
            </a:pPr>
            <a:r>
              <a:t>Liczenie co jednostkę</a:t>
            </a:r>
          </a:p>
        </p:txBody>
      </p:sp>
      <p:sp>
        <p:nvSpPr>
          <p:cNvPr id="13" name="Rounded Rectangle 12"/>
          <p:cNvSpPr/>
          <p:nvPr/>
        </p:nvSpPr>
        <p:spPr>
          <a:xfrm>
            <a:off x="8129016" y="2057400"/>
            <a:ext cx="347472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1896" y="2221992"/>
            <a:ext cx="3108960" cy="365760"/>
          </a:xfrm>
          <a:prstGeom prst="rect">
            <a:avLst/>
          </a:prstGeom>
          <a:noFill/>
        </p:spPr>
        <p:txBody>
          <a:bodyPr wrap="square" lIns="0" rIns="0" tIns="0" bIns="0">
            <a:spAutoFit/>
          </a:bodyPr>
          <a:lstStyle/>
          <a:p>
            <a:pPr>
              <a:spcAft>
                <a:spcPts val="1000"/>
              </a:spcAft>
              <a:defRPr sz="1300" b="1">
                <a:solidFill>
                  <a:srgbClr val="11745B"/>
                </a:solidFill>
                <a:latin typeface="DejaVu Sans"/>
              </a:defRPr>
            </a:pPr>
            <a:r>
              <a:t>3 / WYJAŚNIENIE</a:t>
            </a:r>
          </a:p>
        </p:txBody>
      </p:sp>
      <p:sp>
        <p:nvSpPr>
          <p:cNvPr id="15" name="TextBox 14"/>
          <p:cNvSpPr txBox="1"/>
          <p:nvPr/>
        </p:nvSpPr>
        <p:spPr>
          <a:xfrm>
            <a:off x="8311896" y="2770632"/>
            <a:ext cx="3108960" cy="2377440"/>
          </a:xfrm>
          <a:prstGeom prst="rect">
            <a:avLst/>
          </a:prstGeom>
          <a:noFill/>
        </p:spPr>
        <p:txBody>
          <a:bodyPr wrap="square" lIns="0" rIns="0" tIns="0" bIns="0">
            <a:spAutoFit/>
          </a:bodyPr>
          <a:lstStyle/>
          <a:p>
            <a:pPr>
              <a:spcAft>
                <a:spcPts val="1000"/>
              </a:spcAft>
              <a:defRPr sz="2300" b="0">
                <a:solidFill>
                  <a:srgbClr val="17372F"/>
                </a:solidFill>
                <a:latin typeface="DejaVu Sans"/>
              </a:defRPr>
            </a:pPr>
            <a:r>
              <a:t>Krok · Start/Pauza</a:t>
            </a:r>
          </a:p>
          <a:p>
            <a:pPr>
              <a:spcAft>
                <a:spcPts val="1000"/>
              </a:spcAft>
              <a:defRPr sz="2300" b="0">
                <a:solidFill>
                  <a:srgbClr val="17372F"/>
                </a:solidFill>
                <a:latin typeface="DejaVu Sans"/>
              </a:defRPr>
            </a:pPr>
            <a:r>
              <a:t>Reset · tempo</a:t>
            </a:r>
          </a:p>
          <a:p>
            <a:pPr>
              <a:spcAft>
                <a:spcPts val="1000"/>
              </a:spcAft>
              <a:defRPr sz="2300" b="0">
                <a:solidFill>
                  <a:srgbClr val="17372F"/>
                </a:solidFill>
                <a:latin typeface="DejaVu Sans"/>
              </a:defRPr>
            </a:pPr>
            <a:r>
              <a:t>Opis kroków i pytania</a:t>
            </a:r>
          </a:p>
        </p:txBody>
      </p:sp>
      <p:sp>
        <p:nvSpPr>
          <p:cNvPr id="16" name="Rounded Rectangle 15"/>
          <p:cNvSpPr/>
          <p:nvPr/>
        </p:nvSpPr>
        <p:spPr>
          <a:xfrm>
            <a:off x="594360" y="5596128"/>
            <a:ext cx="10972800" cy="566928"/>
          </a:xfrm>
          <a:prstGeom prst="roundRect">
            <a:avLst/>
          </a:prstGeom>
          <a:solidFill>
            <a:srgbClr val="DCE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733288"/>
            <a:ext cx="10515600" cy="365760"/>
          </a:xfrm>
          <a:prstGeom prst="rect">
            <a:avLst/>
          </a:prstGeom>
          <a:noFill/>
        </p:spPr>
        <p:txBody>
          <a:bodyPr wrap="square" lIns="0" rIns="0" tIns="0" bIns="0">
            <a:spAutoFit/>
          </a:bodyPr>
          <a:lstStyle/>
          <a:p>
            <a:pPr>
              <a:spcAft>
                <a:spcPts val="1000"/>
              </a:spcAft>
              <a:defRPr sz="1900" b="1">
                <a:solidFill>
                  <a:srgbClr val="11745B"/>
                </a:solidFill>
                <a:latin typeface="DejaVu Sans"/>
              </a:defRPr>
            </a:pPr>
            <a:r>
              <a:t>Nie tylko „ile?”, ale też „dlaczego właśnie tyle?”.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5F0"/>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100" b="1">
                <a:solidFill>
                  <a:srgbClr val="11745B"/>
                </a:solidFill>
                <a:latin typeface="DejaVu Sans"/>
              </a:defRPr>
            </a:pPr>
            <a:r>
              <a:t>04 / ALGORYTMY I WARUNKI</a:t>
            </a:r>
          </a:p>
        </p:txBody>
      </p:sp>
      <p:sp>
        <p:nvSpPr>
          <p:cNvPr id="3" name="TextBox 2"/>
          <p:cNvSpPr txBox="1"/>
          <p:nvPr/>
        </p:nvSpPr>
        <p:spPr>
          <a:xfrm>
            <a:off x="594360" y="859536"/>
            <a:ext cx="11064240" cy="914400"/>
          </a:xfrm>
          <a:prstGeom prst="rect">
            <a:avLst/>
          </a:prstGeom>
          <a:noFill/>
        </p:spPr>
        <p:txBody>
          <a:bodyPr wrap="square" lIns="0" rIns="0" tIns="0" bIns="0">
            <a:spAutoFit/>
          </a:bodyPr>
          <a:lstStyle/>
          <a:p>
            <a:pPr>
              <a:spcAft>
                <a:spcPts val="1000"/>
              </a:spcAft>
              <a:defRPr sz="3400" b="1">
                <a:solidFill>
                  <a:srgbClr val="17372F"/>
                </a:solidFill>
                <a:latin typeface="DejaVu Sans"/>
              </a:defRPr>
            </a:pPr>
            <a:r>
              <a:t>Czy styk oznacza konflikt?</a:t>
            </a:r>
          </a:p>
        </p:txBody>
      </p:sp>
      <p:sp>
        <p:nvSpPr>
          <p:cNvPr id="4" name="Rectangle 3"/>
          <p:cNvSpPr/>
          <p:nvPr/>
        </p:nvSpPr>
        <p:spPr>
          <a:xfrm>
            <a:off x="594360" y="6400800"/>
            <a:ext cx="10972800" cy="10972"/>
          </a:xfrm>
          <a:prstGeom prst="rect">
            <a:avLst/>
          </a:prstGeom>
          <a:solidFill>
            <a:srgbClr val="CED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10058400" cy="182880"/>
          </a:xfrm>
          <a:prstGeom prst="rect">
            <a:avLst/>
          </a:prstGeom>
          <a:noFill/>
        </p:spPr>
        <p:txBody>
          <a:bodyPr wrap="square" lIns="0" rIns="0" tIns="0" bIns="0">
            <a:spAutoFit/>
          </a:bodyPr>
          <a:lstStyle/>
          <a:p>
            <a:pPr>
              <a:spcAft>
                <a:spcPts val="1000"/>
              </a:spcAft>
              <a:defRPr sz="900" b="0">
                <a:solidFill>
                  <a:srgbClr val="52675F"/>
                </a:solidFill>
                <a:latin typeface="DejaVu Sans"/>
              </a:defRPr>
            </a:pPr>
            <a:r>
              <a:t>ASD1-M1-17  /  Deividas Dirma  /  93791</a:t>
            </a:r>
          </a:p>
        </p:txBody>
      </p:sp>
      <p:sp>
        <p:nvSpPr>
          <p:cNvPr id="6" name="TextBox 5"/>
          <p:cNvSpPr txBox="1"/>
          <p:nvPr/>
        </p:nvSpPr>
        <p:spPr>
          <a:xfrm>
            <a:off x="10972800" y="6519672"/>
            <a:ext cx="640080" cy="228600"/>
          </a:xfrm>
          <a:prstGeom prst="rect">
            <a:avLst/>
          </a:prstGeom>
          <a:noFill/>
        </p:spPr>
        <p:txBody>
          <a:bodyPr wrap="square" lIns="0" rIns="0" tIns="0" bIns="0">
            <a:spAutoFit/>
          </a:bodyPr>
          <a:lstStyle/>
          <a:p>
            <a:pPr>
              <a:spcAft>
                <a:spcPts val="1000"/>
              </a:spcAft>
              <a:defRPr sz="1000" b="0">
                <a:solidFill>
                  <a:srgbClr val="52675F"/>
                </a:solidFill>
                <a:latin typeface="DejaVu Sans"/>
              </a:defRPr>
            </a:pPr>
            <a:r>
              <a:t>04/10</a:t>
            </a:r>
          </a:p>
        </p:txBody>
      </p:sp>
      <p:sp>
        <p:nvSpPr>
          <p:cNvPr id="7" name="Rounded Rectangle 6"/>
          <p:cNvSpPr/>
          <p:nvPr/>
        </p:nvSpPr>
        <p:spPr>
          <a:xfrm>
            <a:off x="594360" y="1874519"/>
            <a:ext cx="530352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39112"/>
            <a:ext cx="4937759" cy="365760"/>
          </a:xfrm>
          <a:prstGeom prst="rect">
            <a:avLst/>
          </a:prstGeom>
          <a:noFill/>
        </p:spPr>
        <p:txBody>
          <a:bodyPr wrap="square" lIns="0" rIns="0" tIns="0" bIns="0">
            <a:spAutoFit/>
          </a:bodyPr>
          <a:lstStyle/>
          <a:p>
            <a:pPr>
              <a:spcAft>
                <a:spcPts val="1000"/>
              </a:spcAft>
              <a:defRPr sz="1300" b="1">
                <a:solidFill>
                  <a:srgbClr val="11745B"/>
                </a:solidFill>
                <a:latin typeface="DejaVu Sans"/>
              </a:defRPr>
            </a:pPr>
            <a:r>
              <a:t>NAKŁADANIE (KONFLIKTY) / KAŻDA PARA</a:t>
            </a:r>
          </a:p>
        </p:txBody>
      </p:sp>
      <p:sp>
        <p:nvSpPr>
          <p:cNvPr id="9" name="TextBox 8"/>
          <p:cNvSpPr txBox="1"/>
          <p:nvPr/>
        </p:nvSpPr>
        <p:spPr>
          <a:xfrm>
            <a:off x="777240" y="2587752"/>
            <a:ext cx="4937759" cy="822960"/>
          </a:xfrm>
          <a:prstGeom prst="rect">
            <a:avLst/>
          </a:prstGeom>
          <a:noFill/>
        </p:spPr>
        <p:txBody>
          <a:bodyPr wrap="square" lIns="0" rIns="0" tIns="0" bIns="0">
            <a:spAutoFit/>
          </a:bodyPr>
          <a:lstStyle/>
          <a:p>
            <a:pPr>
              <a:spcAft>
                <a:spcPts val="1000"/>
              </a:spcAft>
              <a:defRPr sz="2000" b="0">
                <a:solidFill>
                  <a:srgbClr val="17372F"/>
                </a:solidFill>
                <a:latin typeface="DejaVu Sans"/>
              </a:defRPr>
            </a:pPr>
            <a:r>
              <a:t>max(początków) &lt; min(końców)</a:t>
            </a:r>
          </a:p>
        </p:txBody>
      </p:sp>
      <p:sp>
        <p:nvSpPr>
          <p:cNvPr id="10" name="Rounded Rectangle 9"/>
          <p:cNvSpPr/>
          <p:nvPr/>
        </p:nvSpPr>
        <p:spPr>
          <a:xfrm>
            <a:off x="6172200" y="1874519"/>
            <a:ext cx="539496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2039112"/>
            <a:ext cx="5029200" cy="365760"/>
          </a:xfrm>
          <a:prstGeom prst="rect">
            <a:avLst/>
          </a:prstGeom>
          <a:noFill/>
        </p:spPr>
        <p:txBody>
          <a:bodyPr wrap="square" lIns="0" rIns="0" tIns="0" bIns="0">
            <a:spAutoFit/>
          </a:bodyPr>
          <a:lstStyle/>
          <a:p>
            <a:pPr>
              <a:spcAft>
                <a:spcPts val="1000"/>
              </a:spcAft>
              <a:defRPr sz="1300" b="1">
                <a:solidFill>
                  <a:srgbClr val="11745B"/>
                </a:solidFill>
                <a:latin typeface="DejaVu Sans"/>
              </a:defRPr>
            </a:pPr>
            <a:r>
              <a:t>ZAJĘTY CZAS (POKRYCIE) / PO SORTOWANIU</a:t>
            </a:r>
          </a:p>
        </p:txBody>
      </p:sp>
      <p:sp>
        <p:nvSpPr>
          <p:cNvPr id="12" name="TextBox 11"/>
          <p:cNvSpPr txBox="1"/>
          <p:nvPr/>
        </p:nvSpPr>
        <p:spPr>
          <a:xfrm>
            <a:off x="6355080" y="2587752"/>
            <a:ext cx="5029200" cy="822960"/>
          </a:xfrm>
          <a:prstGeom prst="rect">
            <a:avLst/>
          </a:prstGeom>
          <a:noFill/>
        </p:spPr>
        <p:txBody>
          <a:bodyPr wrap="square" lIns="0" rIns="0" tIns="0" bIns="0">
            <a:spAutoFit/>
          </a:bodyPr>
          <a:lstStyle/>
          <a:p>
            <a:pPr>
              <a:spcAft>
                <a:spcPts val="1000"/>
              </a:spcAft>
              <a:defRPr sz="2000" b="0">
                <a:solidFill>
                  <a:srgbClr val="17372F"/>
                </a:solidFill>
                <a:latin typeface="DejaVu Sans"/>
              </a:defRPr>
            </a:pPr>
            <a:r>
              <a:t>start ≤ koniec → połącz</a:t>
            </a:r>
          </a:p>
        </p:txBody>
      </p:sp>
      <p:sp>
        <p:nvSpPr>
          <p:cNvPr id="13" name="Rounded Rectangle 12"/>
          <p:cNvSpPr/>
          <p:nvPr/>
        </p:nvSpPr>
        <p:spPr>
          <a:xfrm>
            <a:off x="594360" y="3776472"/>
            <a:ext cx="3474720" cy="16642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941063"/>
            <a:ext cx="3108960" cy="365760"/>
          </a:xfrm>
          <a:prstGeom prst="rect">
            <a:avLst/>
          </a:prstGeom>
          <a:noFill/>
        </p:spPr>
        <p:txBody>
          <a:bodyPr wrap="square" lIns="0" rIns="0" tIns="0" bIns="0">
            <a:spAutoFit/>
          </a:bodyPr>
          <a:lstStyle/>
          <a:p>
            <a:pPr>
              <a:spcAft>
                <a:spcPts val="1000"/>
              </a:spcAft>
              <a:defRPr sz="1300" b="1">
                <a:solidFill>
                  <a:srgbClr val="11745B"/>
                </a:solidFill>
                <a:latin typeface="DejaVu Sans"/>
              </a:defRPr>
            </a:pPr>
            <a:r>
              <a:t>1 / UTWÓRZ</a:t>
            </a:r>
          </a:p>
        </p:txBody>
      </p:sp>
      <p:sp>
        <p:nvSpPr>
          <p:cNvPr id="15" name="TextBox 14"/>
          <p:cNvSpPr txBox="1"/>
          <p:nvPr/>
        </p:nvSpPr>
        <p:spPr>
          <a:xfrm>
            <a:off x="777240" y="4489704"/>
            <a:ext cx="3108960" cy="841248"/>
          </a:xfrm>
          <a:prstGeom prst="rect">
            <a:avLst/>
          </a:prstGeom>
          <a:noFill/>
        </p:spPr>
        <p:txBody>
          <a:bodyPr wrap="square" lIns="0" rIns="0" tIns="0" bIns="0">
            <a:spAutoFit/>
          </a:bodyPr>
          <a:lstStyle/>
          <a:p>
            <a:pPr>
              <a:spcAft>
                <a:spcPts val="1000"/>
              </a:spcAft>
              <a:defRPr sz="2000" b="0">
                <a:solidFill>
                  <a:srgbClr val="17372F"/>
                </a:solidFill>
                <a:latin typeface="DejaVu Sans"/>
              </a:defRPr>
            </a:pPr>
            <a:r>
              <a:t>Początek +1</a:t>
            </a:r>
          </a:p>
          <a:p>
            <a:pPr>
              <a:spcAft>
                <a:spcPts val="1000"/>
              </a:spcAft>
              <a:defRPr sz="2000" b="0">
                <a:solidFill>
                  <a:srgbClr val="17372F"/>
                </a:solidFill>
                <a:latin typeface="DejaVu Sans"/>
              </a:defRPr>
            </a:pPr>
            <a:r>
              <a:t>Koniec −1</a:t>
            </a:r>
          </a:p>
        </p:txBody>
      </p:sp>
      <p:sp>
        <p:nvSpPr>
          <p:cNvPr id="16" name="Rounded Rectangle 15"/>
          <p:cNvSpPr/>
          <p:nvPr/>
        </p:nvSpPr>
        <p:spPr>
          <a:xfrm>
            <a:off x="4361688" y="3776472"/>
            <a:ext cx="3474720" cy="16642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44568" y="3941063"/>
            <a:ext cx="3108960" cy="365760"/>
          </a:xfrm>
          <a:prstGeom prst="rect">
            <a:avLst/>
          </a:prstGeom>
          <a:noFill/>
        </p:spPr>
        <p:txBody>
          <a:bodyPr wrap="square" lIns="0" rIns="0" tIns="0" bIns="0">
            <a:spAutoFit/>
          </a:bodyPr>
          <a:lstStyle/>
          <a:p>
            <a:pPr>
              <a:spcAft>
                <a:spcPts val="1000"/>
              </a:spcAft>
              <a:defRPr sz="1300" b="1">
                <a:solidFill>
                  <a:srgbClr val="11745B"/>
                </a:solidFill>
                <a:latin typeface="DejaVu Sans"/>
              </a:defRPr>
            </a:pPr>
            <a:r>
              <a:t>2 / UPORZĄDKUJ</a:t>
            </a:r>
          </a:p>
        </p:txBody>
      </p:sp>
      <p:sp>
        <p:nvSpPr>
          <p:cNvPr id="18" name="TextBox 17"/>
          <p:cNvSpPr txBox="1"/>
          <p:nvPr/>
        </p:nvSpPr>
        <p:spPr>
          <a:xfrm>
            <a:off x="4544568" y="4489704"/>
            <a:ext cx="3108960" cy="841248"/>
          </a:xfrm>
          <a:prstGeom prst="rect">
            <a:avLst/>
          </a:prstGeom>
          <a:noFill/>
        </p:spPr>
        <p:txBody>
          <a:bodyPr wrap="square" lIns="0" rIns="0" tIns="0" bIns="0">
            <a:spAutoFit/>
          </a:bodyPr>
          <a:lstStyle/>
          <a:p>
            <a:pPr>
              <a:spcAft>
                <a:spcPts val="1000"/>
              </a:spcAft>
              <a:defRPr sz="2000" b="0">
                <a:solidFill>
                  <a:srgbClr val="17372F"/>
                </a:solidFill>
                <a:latin typeface="DejaVu Sans"/>
              </a:defRPr>
            </a:pPr>
            <a:r>
              <a:t>Ten sam czas?</a:t>
            </a:r>
          </a:p>
          <a:p>
            <a:pPr>
              <a:spcAft>
                <a:spcPts val="1000"/>
              </a:spcAft>
              <a:defRPr sz="2000" b="0">
                <a:solidFill>
                  <a:srgbClr val="17372F"/>
                </a:solidFill>
                <a:latin typeface="DejaVu Sans"/>
              </a:defRPr>
            </a:pPr>
            <a:r>
              <a:t>Najpierw −1, potem +1</a:t>
            </a:r>
          </a:p>
        </p:txBody>
      </p:sp>
      <p:sp>
        <p:nvSpPr>
          <p:cNvPr id="19" name="Rounded Rectangle 18"/>
          <p:cNvSpPr/>
          <p:nvPr/>
        </p:nvSpPr>
        <p:spPr>
          <a:xfrm>
            <a:off x="8129016" y="3776472"/>
            <a:ext cx="3474720" cy="16642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1896" y="3941063"/>
            <a:ext cx="3108960" cy="365760"/>
          </a:xfrm>
          <a:prstGeom prst="rect">
            <a:avLst/>
          </a:prstGeom>
          <a:noFill/>
        </p:spPr>
        <p:txBody>
          <a:bodyPr wrap="square" lIns="0" rIns="0" tIns="0" bIns="0">
            <a:spAutoFit/>
          </a:bodyPr>
          <a:lstStyle/>
          <a:p>
            <a:pPr>
              <a:spcAft>
                <a:spcPts val="1000"/>
              </a:spcAft>
              <a:defRPr sz="1300" b="1">
                <a:solidFill>
                  <a:srgbClr val="11745B"/>
                </a:solidFill>
                <a:latin typeface="DejaVu Sans"/>
              </a:defRPr>
            </a:pPr>
            <a:r>
              <a:t>3 / OCEŃ</a:t>
            </a:r>
          </a:p>
        </p:txBody>
      </p:sp>
      <p:sp>
        <p:nvSpPr>
          <p:cNvPr id="21" name="TextBox 20"/>
          <p:cNvSpPr txBox="1"/>
          <p:nvPr/>
        </p:nvSpPr>
        <p:spPr>
          <a:xfrm>
            <a:off x="8311896" y="4489704"/>
            <a:ext cx="3108960" cy="841248"/>
          </a:xfrm>
          <a:prstGeom prst="rect">
            <a:avLst/>
          </a:prstGeom>
          <a:noFill/>
        </p:spPr>
        <p:txBody>
          <a:bodyPr wrap="square" lIns="0" rIns="0" tIns="0" bIns="0">
            <a:spAutoFit/>
          </a:bodyPr>
          <a:lstStyle/>
          <a:p>
            <a:pPr>
              <a:spcAft>
                <a:spcPts val="1000"/>
              </a:spcAft>
              <a:defRPr sz="2000" b="0">
                <a:solidFill>
                  <a:srgbClr val="17372F"/>
                </a:solidFill>
                <a:latin typeface="DejaVu Sans"/>
              </a:defRPr>
            </a:pPr>
            <a:r>
              <a:t>Po całej grupie czasu</a:t>
            </a:r>
          </a:p>
          <a:p>
            <a:pPr>
              <a:spcAft>
                <a:spcPts val="1000"/>
              </a:spcAft>
              <a:defRPr sz="2000" b="0">
                <a:solidFill>
                  <a:srgbClr val="17372F"/>
                </a:solidFill>
                <a:latin typeface="DejaVu Sans"/>
              </a:defRPr>
            </a:pPr>
            <a:r>
              <a:t>Znajdź najwięcej naraz</a:t>
            </a:r>
          </a:p>
        </p:txBody>
      </p:sp>
      <p:sp>
        <p:nvSpPr>
          <p:cNvPr id="22" name="Rounded Rectangle 21"/>
          <p:cNvSpPr/>
          <p:nvPr/>
        </p:nvSpPr>
        <p:spPr>
          <a:xfrm>
            <a:off x="594360" y="5596128"/>
            <a:ext cx="10972800" cy="566928"/>
          </a:xfrm>
          <a:prstGeom prst="roundRect">
            <a:avLst/>
          </a:prstGeom>
          <a:solidFill>
            <a:srgbClr val="DCE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733288"/>
            <a:ext cx="10515600" cy="365760"/>
          </a:xfrm>
          <a:prstGeom prst="rect">
            <a:avLst/>
          </a:prstGeom>
          <a:noFill/>
        </p:spPr>
        <p:txBody>
          <a:bodyPr wrap="square" lIns="0" rIns="0" tIns="0" bIns="0">
            <a:spAutoFit/>
          </a:bodyPr>
          <a:lstStyle/>
          <a:p>
            <a:pPr>
              <a:spcAft>
                <a:spcPts val="1000"/>
              </a:spcAft>
              <a:defRPr sz="1900" b="1">
                <a:solidFill>
                  <a:srgbClr val="11745B"/>
                </a:solidFill>
                <a:latin typeface="DejaVu Sans"/>
              </a:defRPr>
            </a:pPr>
            <a:r>
              <a:t>Liczenie co jednostkę jest dokładne dla całkowitych granic 0–100.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5F0"/>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100" b="1">
                <a:solidFill>
                  <a:srgbClr val="11745B"/>
                </a:solidFill>
                <a:latin typeface="DejaVu Sans"/>
              </a:defRPr>
            </a:pPr>
            <a:r>
              <a:t>05 / STRUKTURY DANYCH I STAN</a:t>
            </a:r>
          </a:p>
        </p:txBody>
      </p:sp>
      <p:sp>
        <p:nvSpPr>
          <p:cNvPr id="3" name="TextBox 2"/>
          <p:cNvSpPr txBox="1"/>
          <p:nvPr/>
        </p:nvSpPr>
        <p:spPr>
          <a:xfrm>
            <a:off x="594360" y="859536"/>
            <a:ext cx="11064240" cy="914400"/>
          </a:xfrm>
          <a:prstGeom prst="rect">
            <a:avLst/>
          </a:prstGeom>
          <a:noFill/>
        </p:spPr>
        <p:txBody>
          <a:bodyPr wrap="square" lIns="0" rIns="0" tIns="0" bIns="0">
            <a:spAutoFit/>
          </a:bodyPr>
          <a:lstStyle/>
          <a:p>
            <a:pPr>
              <a:spcAft>
                <a:spcPts val="1000"/>
              </a:spcAft>
              <a:defRPr sz="3400" b="1">
                <a:solidFill>
                  <a:srgbClr val="17372F"/>
                </a:solidFill>
                <a:latin typeface="DejaVu Sans"/>
              </a:defRPr>
            </a:pPr>
            <a:r>
              <a:t>Co program zapamiętuje?</a:t>
            </a:r>
          </a:p>
        </p:txBody>
      </p:sp>
      <p:sp>
        <p:nvSpPr>
          <p:cNvPr id="4" name="Rectangle 3"/>
          <p:cNvSpPr/>
          <p:nvPr/>
        </p:nvSpPr>
        <p:spPr>
          <a:xfrm>
            <a:off x="594360" y="6400800"/>
            <a:ext cx="10972800" cy="10972"/>
          </a:xfrm>
          <a:prstGeom prst="rect">
            <a:avLst/>
          </a:prstGeom>
          <a:solidFill>
            <a:srgbClr val="CED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10058400" cy="182880"/>
          </a:xfrm>
          <a:prstGeom prst="rect">
            <a:avLst/>
          </a:prstGeom>
          <a:noFill/>
        </p:spPr>
        <p:txBody>
          <a:bodyPr wrap="square" lIns="0" rIns="0" tIns="0" bIns="0">
            <a:spAutoFit/>
          </a:bodyPr>
          <a:lstStyle/>
          <a:p>
            <a:pPr>
              <a:spcAft>
                <a:spcPts val="1000"/>
              </a:spcAft>
              <a:defRPr sz="900" b="0">
                <a:solidFill>
                  <a:srgbClr val="52675F"/>
                </a:solidFill>
                <a:latin typeface="DejaVu Sans"/>
              </a:defRPr>
            </a:pPr>
            <a:r>
              <a:t>ASD1-M1-17  /  Deividas Dirma  /  93791</a:t>
            </a:r>
          </a:p>
        </p:txBody>
      </p:sp>
      <p:sp>
        <p:nvSpPr>
          <p:cNvPr id="6" name="TextBox 5"/>
          <p:cNvSpPr txBox="1"/>
          <p:nvPr/>
        </p:nvSpPr>
        <p:spPr>
          <a:xfrm>
            <a:off x="10972800" y="6519672"/>
            <a:ext cx="640080" cy="228600"/>
          </a:xfrm>
          <a:prstGeom prst="rect">
            <a:avLst/>
          </a:prstGeom>
          <a:noFill/>
        </p:spPr>
        <p:txBody>
          <a:bodyPr wrap="square" lIns="0" rIns="0" tIns="0" bIns="0">
            <a:spAutoFit/>
          </a:bodyPr>
          <a:lstStyle/>
          <a:p>
            <a:pPr>
              <a:spcAft>
                <a:spcPts val="1000"/>
              </a:spcAft>
              <a:defRPr sz="1000" b="0">
                <a:solidFill>
                  <a:srgbClr val="52675F"/>
                </a:solidFill>
                <a:latin typeface="DejaVu Sans"/>
              </a:defRPr>
            </a:pPr>
            <a:r>
              <a:t>05/10</a:t>
            </a:r>
          </a:p>
        </p:txBody>
      </p:sp>
      <p:sp>
        <p:nvSpPr>
          <p:cNvPr id="7" name="Rounded Rectangle 6"/>
          <p:cNvSpPr/>
          <p:nvPr/>
        </p:nvSpPr>
        <p:spPr>
          <a:xfrm>
            <a:off x="594360" y="1938528"/>
            <a:ext cx="3474720"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3108960" cy="365760"/>
          </a:xfrm>
          <a:prstGeom prst="rect">
            <a:avLst/>
          </a:prstGeom>
          <a:noFill/>
        </p:spPr>
        <p:txBody>
          <a:bodyPr wrap="square" lIns="0" rIns="0" tIns="0" bIns="0">
            <a:spAutoFit/>
          </a:bodyPr>
          <a:lstStyle/>
          <a:p>
            <a:pPr>
              <a:spcAft>
                <a:spcPts val="1000"/>
              </a:spcAft>
              <a:defRPr sz="1300" b="1">
                <a:solidFill>
                  <a:srgbClr val="11745B"/>
                </a:solidFill>
                <a:latin typeface="DejaVu Sans"/>
              </a:defRPr>
            </a:pPr>
            <a:r>
              <a:t>PRZEDZIAŁ</a:t>
            </a:r>
          </a:p>
        </p:txBody>
      </p:sp>
      <p:sp>
        <p:nvSpPr>
          <p:cNvPr id="9" name="TextBox 8"/>
          <p:cNvSpPr txBox="1"/>
          <p:nvPr/>
        </p:nvSpPr>
        <p:spPr>
          <a:xfrm>
            <a:off x="777240" y="2651760"/>
            <a:ext cx="3108960" cy="1719072"/>
          </a:xfrm>
          <a:prstGeom prst="rect">
            <a:avLst/>
          </a:prstGeom>
          <a:noFill/>
        </p:spPr>
        <p:txBody>
          <a:bodyPr wrap="square" lIns="0" rIns="0" tIns="0" bIns="0">
            <a:spAutoFit/>
          </a:bodyPr>
          <a:lstStyle/>
          <a:p>
            <a:pPr>
              <a:spcAft>
                <a:spcPts val="1000"/>
              </a:spcAft>
              <a:defRPr sz="2300" b="0">
                <a:solidFill>
                  <a:srgbClr val="17372F"/>
                </a:solidFill>
                <a:latin typeface="DejaVu Sans"/>
              </a:defRPr>
            </a:pPr>
            <a:r>
              <a:t>Nazwa: A</a:t>
            </a:r>
          </a:p>
          <a:p>
            <a:pPr>
              <a:spcAft>
                <a:spcPts val="1000"/>
              </a:spcAft>
              <a:defRPr sz="2300" b="0">
                <a:solidFill>
                  <a:srgbClr val="17372F"/>
                </a:solidFill>
                <a:latin typeface="DejaVu Sans"/>
              </a:defRPr>
            </a:pPr>
            <a:r>
              <a:t>Początek: 1</a:t>
            </a:r>
          </a:p>
          <a:p>
            <a:pPr>
              <a:spcAft>
                <a:spcPts val="1000"/>
              </a:spcAft>
              <a:defRPr sz="2300" b="0">
                <a:solidFill>
                  <a:srgbClr val="17372F"/>
                </a:solidFill>
                <a:latin typeface="DejaVu Sans"/>
              </a:defRPr>
            </a:pPr>
            <a:r>
              <a:t>Koniec: 4</a:t>
            </a:r>
          </a:p>
        </p:txBody>
      </p:sp>
      <p:sp>
        <p:nvSpPr>
          <p:cNvPr id="10" name="Rounded Rectangle 9"/>
          <p:cNvSpPr/>
          <p:nvPr/>
        </p:nvSpPr>
        <p:spPr>
          <a:xfrm>
            <a:off x="4361688" y="1938528"/>
            <a:ext cx="3474720"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2103120"/>
            <a:ext cx="3108960" cy="365760"/>
          </a:xfrm>
          <a:prstGeom prst="rect">
            <a:avLst/>
          </a:prstGeom>
          <a:noFill/>
        </p:spPr>
        <p:txBody>
          <a:bodyPr wrap="square" lIns="0" rIns="0" tIns="0" bIns="0">
            <a:spAutoFit/>
          </a:bodyPr>
          <a:lstStyle/>
          <a:p>
            <a:pPr>
              <a:spcAft>
                <a:spcPts val="1000"/>
              </a:spcAft>
              <a:defRPr sz="1200" b="1">
                <a:solidFill>
                  <a:srgbClr val="11745B"/>
                </a:solidFill>
                <a:latin typeface="DejaVu Sans"/>
              </a:defRPr>
            </a:pPr>
            <a:r>
              <a:t>POCZĄTKI I KOŃCE (ZDARZENIA)</a:t>
            </a:r>
          </a:p>
        </p:txBody>
      </p:sp>
      <p:sp>
        <p:nvSpPr>
          <p:cNvPr id="12" name="TextBox 11"/>
          <p:cNvSpPr txBox="1"/>
          <p:nvPr/>
        </p:nvSpPr>
        <p:spPr>
          <a:xfrm>
            <a:off x="4544568" y="2651760"/>
            <a:ext cx="3108960" cy="1719072"/>
          </a:xfrm>
          <a:prstGeom prst="rect">
            <a:avLst/>
          </a:prstGeom>
          <a:noFill/>
        </p:spPr>
        <p:txBody>
          <a:bodyPr wrap="square" lIns="0" rIns="0" tIns="0" bIns="0">
            <a:spAutoFit/>
          </a:bodyPr>
          <a:lstStyle/>
          <a:p>
            <a:pPr>
              <a:spcAft>
                <a:spcPts val="1000"/>
              </a:spcAft>
              <a:defRPr sz="2300" b="0">
                <a:solidFill>
                  <a:srgbClr val="17372F"/>
                </a:solidFill>
                <a:latin typeface="DejaVu Sans"/>
              </a:defRPr>
            </a:pPr>
            <a:r>
              <a:t>czas 1 → +1</a:t>
            </a:r>
          </a:p>
          <a:p>
            <a:pPr>
              <a:spcAft>
                <a:spcPts val="1000"/>
              </a:spcAft>
              <a:defRPr sz="2300" b="0">
                <a:solidFill>
                  <a:srgbClr val="17372F"/>
                </a:solidFill>
                <a:latin typeface="DejaVu Sans"/>
              </a:defRPr>
            </a:pPr>
            <a:r>
              <a:t>czas 4 → −1</a:t>
            </a:r>
          </a:p>
          <a:p>
            <a:pPr>
              <a:spcAft>
                <a:spcPts val="1000"/>
              </a:spcAft>
              <a:defRPr sz="2300" b="0">
                <a:solidFill>
                  <a:srgbClr val="17372F"/>
                </a:solidFill>
                <a:latin typeface="DejaVu Sans"/>
              </a:defRPr>
            </a:pPr>
            <a:r>
              <a:t>ID łączy je z A</a:t>
            </a:r>
          </a:p>
        </p:txBody>
      </p:sp>
      <p:sp>
        <p:nvSpPr>
          <p:cNvPr id="13" name="Rounded Rectangle 12"/>
          <p:cNvSpPr/>
          <p:nvPr/>
        </p:nvSpPr>
        <p:spPr>
          <a:xfrm>
            <a:off x="8129016" y="1938528"/>
            <a:ext cx="3474720"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1896" y="2103120"/>
            <a:ext cx="3108960" cy="365760"/>
          </a:xfrm>
          <a:prstGeom prst="rect">
            <a:avLst/>
          </a:prstGeom>
          <a:noFill/>
        </p:spPr>
        <p:txBody>
          <a:bodyPr wrap="square" lIns="0" rIns="0" tIns="0" bIns="0">
            <a:spAutoFit/>
          </a:bodyPr>
          <a:lstStyle/>
          <a:p>
            <a:pPr>
              <a:spcAft>
                <a:spcPts val="1000"/>
              </a:spcAft>
              <a:defRPr sz="1300" b="1">
                <a:solidFill>
                  <a:srgbClr val="11745B"/>
                </a:solidFill>
                <a:latin typeface="DejaVu Sans"/>
              </a:defRPr>
            </a:pPr>
            <a:r>
              <a:t>STAN ODTWARZANIA</a:t>
            </a:r>
          </a:p>
        </p:txBody>
      </p:sp>
      <p:sp>
        <p:nvSpPr>
          <p:cNvPr id="15" name="TextBox 14"/>
          <p:cNvSpPr txBox="1"/>
          <p:nvPr/>
        </p:nvSpPr>
        <p:spPr>
          <a:xfrm>
            <a:off x="8311896" y="2651760"/>
            <a:ext cx="3108960" cy="1719072"/>
          </a:xfrm>
          <a:prstGeom prst="rect">
            <a:avLst/>
          </a:prstGeom>
          <a:noFill/>
        </p:spPr>
        <p:txBody>
          <a:bodyPr wrap="square" lIns="0" rIns="0" tIns="0" bIns="0">
            <a:spAutoFit/>
          </a:bodyPr>
          <a:lstStyle/>
          <a:p>
            <a:pPr>
              <a:spcAft>
                <a:spcPts val="1000"/>
              </a:spcAft>
              <a:defRPr sz="2300" b="0">
                <a:solidFill>
                  <a:srgbClr val="17372F"/>
                </a:solidFill>
                <a:latin typeface="DejaVu Sans"/>
              </a:defRPr>
            </a:pPr>
            <a:r>
              <a:t>Lista kroków</a:t>
            </a:r>
          </a:p>
          <a:p>
            <a:pPr>
              <a:spcAft>
                <a:spcPts val="1000"/>
              </a:spcAft>
              <a:defRPr sz="2300" b="0">
                <a:solidFill>
                  <a:srgbClr val="17372F"/>
                </a:solidFill>
                <a:latin typeface="DejaVu Sans"/>
              </a:defRPr>
            </a:pPr>
            <a:r>
              <a:t>Numer kroku</a:t>
            </a:r>
          </a:p>
          <a:p>
            <a:pPr>
              <a:spcAft>
                <a:spcPts val="1000"/>
              </a:spcAft>
              <a:defRPr sz="2300" b="0">
                <a:solidFill>
                  <a:srgbClr val="17372F"/>
                </a:solidFill>
                <a:latin typeface="DejaVu Sans"/>
              </a:defRPr>
            </a:pPr>
            <a:r>
              <a:t>Zegar odtwarzania</a:t>
            </a:r>
          </a:p>
        </p:txBody>
      </p:sp>
      <p:sp>
        <p:nvSpPr>
          <p:cNvPr id="16" name="TextBox 15"/>
          <p:cNvSpPr txBox="1"/>
          <p:nvPr/>
        </p:nvSpPr>
        <p:spPr>
          <a:xfrm>
            <a:off x="777240" y="4782312"/>
            <a:ext cx="10789920" cy="502920"/>
          </a:xfrm>
          <a:prstGeom prst="rect">
            <a:avLst/>
          </a:prstGeom>
          <a:noFill/>
        </p:spPr>
        <p:txBody>
          <a:bodyPr wrap="square" lIns="0" rIns="0" tIns="0" bIns="0">
            <a:spAutoFit/>
          </a:bodyPr>
          <a:lstStyle/>
          <a:p>
            <a:pPr>
              <a:spcAft>
                <a:spcPts val="1000"/>
              </a:spcAft>
              <a:defRPr sz="2000" b="0">
                <a:solidFill>
                  <a:srgbClr val="52675F"/>
                </a:solidFill>
                <a:latin typeface="DejaVu Sans"/>
              </a:defRPr>
            </a:pPr>
            <a:r>
              <a:t>Dane są w tablicach obiektów. Każdy krok ma zapisany stan.</a:t>
            </a:r>
          </a:p>
        </p:txBody>
      </p:sp>
      <p:sp>
        <p:nvSpPr>
          <p:cNvPr id="17" name="Rounded Rectangle 16"/>
          <p:cNvSpPr/>
          <p:nvPr/>
        </p:nvSpPr>
        <p:spPr>
          <a:xfrm>
            <a:off x="594360" y="5596128"/>
            <a:ext cx="10972800" cy="566928"/>
          </a:xfrm>
          <a:prstGeom prst="roundRect">
            <a:avLst/>
          </a:prstGeom>
          <a:solidFill>
            <a:srgbClr val="DCE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733288"/>
            <a:ext cx="10515600" cy="365760"/>
          </a:xfrm>
          <a:prstGeom prst="rect">
            <a:avLst/>
          </a:prstGeom>
          <a:noFill/>
        </p:spPr>
        <p:txBody>
          <a:bodyPr wrap="square" lIns="0" rIns="0" tIns="0" bIns="0">
            <a:spAutoFit/>
          </a:bodyPr>
          <a:lstStyle/>
          <a:p>
            <a:pPr>
              <a:spcAft>
                <a:spcPts val="1000"/>
              </a:spcAft>
              <a:defRPr sz="1900" b="1">
                <a:solidFill>
                  <a:srgbClr val="11745B"/>
                </a:solidFill>
                <a:latin typeface="DejaVu Sans"/>
              </a:defRPr>
            </a:pPr>
            <a:r>
              <a:t>4 identyczne rezerwacje: 6 nakładających się par, ale tylko 4 naraz.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5F0"/>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100" b="1">
                <a:solidFill>
                  <a:srgbClr val="11745B"/>
                </a:solidFill>
                <a:latin typeface="DejaVu Sans"/>
              </a:defRPr>
            </a:pPr>
            <a:r>
              <a:t>06 / TECHNOLOGIE I ARCHITEKTURA</a:t>
            </a:r>
          </a:p>
        </p:txBody>
      </p:sp>
      <p:sp>
        <p:nvSpPr>
          <p:cNvPr id="3" name="TextBox 2"/>
          <p:cNvSpPr txBox="1"/>
          <p:nvPr/>
        </p:nvSpPr>
        <p:spPr>
          <a:xfrm>
            <a:off x="594360" y="859536"/>
            <a:ext cx="11064240" cy="914400"/>
          </a:xfrm>
          <a:prstGeom prst="rect">
            <a:avLst/>
          </a:prstGeom>
          <a:noFill/>
        </p:spPr>
        <p:txBody>
          <a:bodyPr wrap="square" lIns="0" rIns="0" tIns="0" bIns="0">
            <a:spAutoFit/>
          </a:bodyPr>
          <a:lstStyle/>
          <a:p>
            <a:pPr>
              <a:spcAft>
                <a:spcPts val="1000"/>
              </a:spcAft>
              <a:defRPr sz="3400" b="1">
                <a:solidFill>
                  <a:srgbClr val="17372F"/>
                </a:solidFill>
                <a:latin typeface="DejaVu Sans"/>
              </a:defRPr>
            </a:pPr>
            <a:r>
              <a:t>Jak dane zamieniają się w wynik?</a:t>
            </a:r>
          </a:p>
        </p:txBody>
      </p:sp>
      <p:sp>
        <p:nvSpPr>
          <p:cNvPr id="4" name="Rectangle 3"/>
          <p:cNvSpPr/>
          <p:nvPr/>
        </p:nvSpPr>
        <p:spPr>
          <a:xfrm>
            <a:off x="594360" y="6400800"/>
            <a:ext cx="10972800" cy="10972"/>
          </a:xfrm>
          <a:prstGeom prst="rect">
            <a:avLst/>
          </a:prstGeom>
          <a:solidFill>
            <a:srgbClr val="CED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10058400" cy="182880"/>
          </a:xfrm>
          <a:prstGeom prst="rect">
            <a:avLst/>
          </a:prstGeom>
          <a:noFill/>
        </p:spPr>
        <p:txBody>
          <a:bodyPr wrap="square" lIns="0" rIns="0" tIns="0" bIns="0">
            <a:spAutoFit/>
          </a:bodyPr>
          <a:lstStyle/>
          <a:p>
            <a:pPr>
              <a:spcAft>
                <a:spcPts val="1000"/>
              </a:spcAft>
              <a:defRPr sz="900" b="0">
                <a:solidFill>
                  <a:srgbClr val="52675F"/>
                </a:solidFill>
                <a:latin typeface="DejaVu Sans"/>
              </a:defRPr>
            </a:pPr>
            <a:r>
              <a:t>ASD1-M1-17  /  Deividas Dirma  /  93791</a:t>
            </a:r>
          </a:p>
        </p:txBody>
      </p:sp>
      <p:sp>
        <p:nvSpPr>
          <p:cNvPr id="6" name="TextBox 5"/>
          <p:cNvSpPr txBox="1"/>
          <p:nvPr/>
        </p:nvSpPr>
        <p:spPr>
          <a:xfrm>
            <a:off x="10972800" y="6519672"/>
            <a:ext cx="640080" cy="228600"/>
          </a:xfrm>
          <a:prstGeom prst="rect">
            <a:avLst/>
          </a:prstGeom>
          <a:noFill/>
        </p:spPr>
        <p:txBody>
          <a:bodyPr wrap="square" lIns="0" rIns="0" tIns="0" bIns="0">
            <a:spAutoFit/>
          </a:bodyPr>
          <a:lstStyle/>
          <a:p>
            <a:pPr>
              <a:spcAft>
                <a:spcPts val="1000"/>
              </a:spcAft>
              <a:defRPr sz="1000" b="0">
                <a:solidFill>
                  <a:srgbClr val="52675F"/>
                </a:solidFill>
                <a:latin typeface="DejaVu Sans"/>
              </a:defRPr>
            </a:pPr>
            <a:r>
              <a:t>06/10</a:t>
            </a:r>
          </a:p>
        </p:txBody>
      </p:sp>
      <p:sp>
        <p:nvSpPr>
          <p:cNvPr id="7" name="TextBox 6"/>
          <p:cNvSpPr txBox="1"/>
          <p:nvPr/>
        </p:nvSpPr>
        <p:spPr>
          <a:xfrm>
            <a:off x="640080" y="1847088"/>
            <a:ext cx="10972800" cy="457200"/>
          </a:xfrm>
          <a:prstGeom prst="rect">
            <a:avLst/>
          </a:prstGeom>
          <a:noFill/>
        </p:spPr>
        <p:txBody>
          <a:bodyPr wrap="square" lIns="0" rIns="0" tIns="0" bIns="0">
            <a:spAutoFit/>
          </a:bodyPr>
          <a:lstStyle/>
          <a:p>
            <a:pPr>
              <a:spcAft>
                <a:spcPts val="1000"/>
              </a:spcAft>
              <a:defRPr sz="2200" b="0">
                <a:solidFill>
                  <a:srgbClr val="11745B"/>
                </a:solidFill>
                <a:latin typeface="DejaVu Sans"/>
              </a:defRPr>
            </a:pPr>
            <a:r>
              <a:t>HTML — treść   /   CSS — wygląd   /   JavaScript — działanie</a:t>
            </a:r>
          </a:p>
        </p:txBody>
      </p:sp>
      <p:sp>
        <p:nvSpPr>
          <p:cNvPr id="8" name="Rounded Rectangle 7"/>
          <p:cNvSpPr/>
          <p:nvPr/>
        </p:nvSpPr>
        <p:spPr>
          <a:xfrm>
            <a:off x="594360" y="2743200"/>
            <a:ext cx="29260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07792"/>
            <a:ext cx="2560320" cy="365760"/>
          </a:xfrm>
          <a:prstGeom prst="rect">
            <a:avLst/>
          </a:prstGeom>
          <a:noFill/>
        </p:spPr>
        <p:txBody>
          <a:bodyPr wrap="square" lIns="0" rIns="0" tIns="0" bIns="0">
            <a:spAutoFit/>
          </a:bodyPr>
          <a:lstStyle/>
          <a:p>
            <a:pPr>
              <a:spcAft>
                <a:spcPts val="1000"/>
              </a:spcAft>
              <a:defRPr sz="1300" b="1">
                <a:solidFill>
                  <a:srgbClr val="11745B"/>
                </a:solidFill>
                <a:latin typeface="DejaVu Sans"/>
              </a:defRPr>
            </a:pPr>
            <a:r>
              <a:t>1 / WEJŚCIE</a:t>
            </a:r>
          </a:p>
        </p:txBody>
      </p:sp>
      <p:sp>
        <p:nvSpPr>
          <p:cNvPr id="10" name="TextBox 9"/>
          <p:cNvSpPr txBox="1"/>
          <p:nvPr/>
        </p:nvSpPr>
        <p:spPr>
          <a:xfrm>
            <a:off x="777240" y="3456432"/>
            <a:ext cx="2560320" cy="1234440"/>
          </a:xfrm>
          <a:prstGeom prst="rect">
            <a:avLst/>
          </a:prstGeom>
          <a:noFill/>
        </p:spPr>
        <p:txBody>
          <a:bodyPr wrap="square" lIns="0" rIns="0" tIns="0" bIns="0">
            <a:spAutoFit/>
          </a:bodyPr>
          <a:lstStyle/>
          <a:p>
            <a:pPr>
              <a:spcAft>
                <a:spcPts val="1000"/>
              </a:spcAft>
              <a:defRPr sz="2300" b="0">
                <a:solidFill>
                  <a:srgbClr val="17372F"/>
                </a:solidFill>
                <a:latin typeface="DejaVu Sans"/>
              </a:defRPr>
            </a:pPr>
            <a:r>
              <a:t>Wpisane dane</a:t>
            </a:r>
          </a:p>
          <a:p>
            <a:pPr>
              <a:spcAft>
                <a:spcPts val="1000"/>
              </a:spcAft>
              <a:defRPr sz="2300" b="0">
                <a:solidFill>
                  <a:srgbClr val="17372F"/>
                </a:solidFill>
                <a:latin typeface="DejaVu Sans"/>
              </a:defRPr>
            </a:pPr>
            <a:r>
              <a:t>→ sprawdzenie</a:t>
            </a:r>
          </a:p>
        </p:txBody>
      </p:sp>
      <p:sp>
        <p:nvSpPr>
          <p:cNvPr id="11" name="TextBox 10"/>
          <p:cNvSpPr txBox="1"/>
          <p:nvPr/>
        </p:nvSpPr>
        <p:spPr>
          <a:xfrm>
            <a:off x="3675887" y="3474720"/>
            <a:ext cx="457200" cy="457200"/>
          </a:xfrm>
          <a:prstGeom prst="rect">
            <a:avLst/>
          </a:prstGeom>
          <a:noFill/>
        </p:spPr>
        <p:txBody>
          <a:bodyPr wrap="square" lIns="0" rIns="0" tIns="0" bIns="0">
            <a:spAutoFit/>
          </a:bodyPr>
          <a:lstStyle/>
          <a:p>
            <a:pPr>
              <a:spcAft>
                <a:spcPts val="1000"/>
              </a:spcAft>
              <a:defRPr sz="2800" b="0">
                <a:solidFill>
                  <a:srgbClr val="11745B"/>
                </a:solidFill>
                <a:latin typeface="DejaVu Sans"/>
              </a:defRPr>
            </a:pPr>
            <a:r>
              <a:t>→</a:t>
            </a:r>
          </a:p>
        </p:txBody>
      </p:sp>
      <p:sp>
        <p:nvSpPr>
          <p:cNvPr id="12" name="Rounded Rectangle 11"/>
          <p:cNvSpPr/>
          <p:nvPr/>
        </p:nvSpPr>
        <p:spPr>
          <a:xfrm>
            <a:off x="4251960" y="2743200"/>
            <a:ext cx="347472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2907792"/>
            <a:ext cx="3108960" cy="365760"/>
          </a:xfrm>
          <a:prstGeom prst="rect">
            <a:avLst/>
          </a:prstGeom>
          <a:noFill/>
        </p:spPr>
        <p:txBody>
          <a:bodyPr wrap="square" lIns="0" rIns="0" tIns="0" bIns="0">
            <a:spAutoFit/>
          </a:bodyPr>
          <a:lstStyle/>
          <a:p>
            <a:pPr>
              <a:spcAft>
                <a:spcPts val="1000"/>
              </a:spcAft>
              <a:defRPr sz="1300" b="1">
                <a:solidFill>
                  <a:srgbClr val="11745B"/>
                </a:solidFill>
                <a:latin typeface="DejaVu Sans"/>
              </a:defRPr>
            </a:pPr>
            <a:r>
              <a:t>2 / ALGORYTMY</a:t>
            </a:r>
          </a:p>
        </p:txBody>
      </p:sp>
      <p:sp>
        <p:nvSpPr>
          <p:cNvPr id="14" name="TextBox 13"/>
          <p:cNvSpPr txBox="1"/>
          <p:nvPr/>
        </p:nvSpPr>
        <p:spPr>
          <a:xfrm>
            <a:off x="4434840" y="3456432"/>
            <a:ext cx="3108960" cy="1234440"/>
          </a:xfrm>
          <a:prstGeom prst="rect">
            <a:avLst/>
          </a:prstGeom>
          <a:noFill/>
        </p:spPr>
        <p:txBody>
          <a:bodyPr wrap="square" lIns="0" rIns="0" tIns="0" bIns="0">
            <a:spAutoFit/>
          </a:bodyPr>
          <a:lstStyle/>
          <a:p>
            <a:pPr>
              <a:spcAft>
                <a:spcPts val="1000"/>
              </a:spcAft>
              <a:defRPr sz="2300" b="0">
                <a:solidFill>
                  <a:srgbClr val="17372F"/>
                </a:solidFill>
                <a:latin typeface="DejaVu Sans"/>
              </a:defRPr>
            </a:pPr>
            <a:r>
              <a:t>Obliczenia</a:t>
            </a:r>
          </a:p>
          <a:p>
            <a:pPr>
              <a:spcAft>
                <a:spcPts val="1000"/>
              </a:spcAft>
              <a:defRPr sz="2300" b="0">
                <a:solidFill>
                  <a:srgbClr val="17372F"/>
                </a:solidFill>
                <a:latin typeface="DejaVu Sans"/>
              </a:defRPr>
            </a:pPr>
            <a:r>
              <a:t>→ wynik i kroki</a:t>
            </a:r>
          </a:p>
        </p:txBody>
      </p:sp>
      <p:sp>
        <p:nvSpPr>
          <p:cNvPr id="15" name="TextBox 14"/>
          <p:cNvSpPr txBox="1"/>
          <p:nvPr/>
        </p:nvSpPr>
        <p:spPr>
          <a:xfrm>
            <a:off x="7845552" y="3474720"/>
            <a:ext cx="457200" cy="457200"/>
          </a:xfrm>
          <a:prstGeom prst="rect">
            <a:avLst/>
          </a:prstGeom>
          <a:noFill/>
        </p:spPr>
        <p:txBody>
          <a:bodyPr wrap="square" lIns="0" rIns="0" tIns="0" bIns="0">
            <a:spAutoFit/>
          </a:bodyPr>
          <a:lstStyle/>
          <a:p>
            <a:pPr>
              <a:spcAft>
                <a:spcPts val="1000"/>
              </a:spcAft>
              <a:defRPr sz="2800" b="0">
                <a:solidFill>
                  <a:srgbClr val="11745B"/>
                </a:solidFill>
                <a:latin typeface="DejaVu Sans"/>
              </a:defRPr>
            </a:pPr>
            <a:r>
              <a:t>→</a:t>
            </a:r>
          </a:p>
        </p:txBody>
      </p:sp>
      <p:sp>
        <p:nvSpPr>
          <p:cNvPr id="16" name="Rounded Rectangle 15"/>
          <p:cNvSpPr/>
          <p:nvPr/>
        </p:nvSpPr>
        <p:spPr>
          <a:xfrm>
            <a:off x="8412480" y="2743200"/>
            <a:ext cx="315468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59" y="2907792"/>
            <a:ext cx="2788920" cy="365760"/>
          </a:xfrm>
          <a:prstGeom prst="rect">
            <a:avLst/>
          </a:prstGeom>
          <a:noFill/>
        </p:spPr>
        <p:txBody>
          <a:bodyPr wrap="square" lIns="0" rIns="0" tIns="0" bIns="0">
            <a:spAutoFit/>
          </a:bodyPr>
          <a:lstStyle/>
          <a:p>
            <a:pPr>
              <a:spcAft>
                <a:spcPts val="1000"/>
              </a:spcAft>
              <a:defRPr sz="1300" b="1">
                <a:solidFill>
                  <a:srgbClr val="11745B"/>
                </a:solidFill>
                <a:latin typeface="DejaVu Sans"/>
              </a:defRPr>
            </a:pPr>
            <a:r>
              <a:t>3 / EKRAN</a:t>
            </a:r>
          </a:p>
        </p:txBody>
      </p:sp>
      <p:sp>
        <p:nvSpPr>
          <p:cNvPr id="18" name="TextBox 17"/>
          <p:cNvSpPr txBox="1"/>
          <p:nvPr/>
        </p:nvSpPr>
        <p:spPr>
          <a:xfrm>
            <a:off x="8595359" y="3456432"/>
            <a:ext cx="2788920" cy="1234440"/>
          </a:xfrm>
          <a:prstGeom prst="rect">
            <a:avLst/>
          </a:prstGeom>
          <a:noFill/>
        </p:spPr>
        <p:txBody>
          <a:bodyPr wrap="square" lIns="0" rIns="0" tIns="0" bIns="0">
            <a:spAutoFit/>
          </a:bodyPr>
          <a:lstStyle/>
          <a:p>
            <a:pPr>
              <a:spcAft>
                <a:spcPts val="1000"/>
              </a:spcAft>
              <a:defRPr sz="2300" b="0">
                <a:solidFill>
                  <a:srgbClr val="17372F"/>
                </a:solidFill>
                <a:latin typeface="DejaVu Sans"/>
              </a:defRPr>
            </a:pPr>
            <a:r>
              <a:t>Gotowy wynik</a:t>
            </a:r>
          </a:p>
          <a:p>
            <a:pPr>
              <a:spcAft>
                <a:spcPts val="1000"/>
              </a:spcAft>
              <a:defRPr sz="2300" b="0">
                <a:solidFill>
                  <a:srgbClr val="17372F"/>
                </a:solidFill>
                <a:latin typeface="DejaVu Sans"/>
              </a:defRPr>
            </a:pPr>
            <a:r>
              <a:t>Przebieg kroków</a:t>
            </a:r>
          </a:p>
        </p:txBody>
      </p:sp>
      <p:sp>
        <p:nvSpPr>
          <p:cNvPr id="19" name="Rounded Rectangle 18"/>
          <p:cNvSpPr/>
          <p:nvPr/>
        </p:nvSpPr>
        <p:spPr>
          <a:xfrm>
            <a:off x="594360" y="5596128"/>
            <a:ext cx="10972800" cy="566928"/>
          </a:xfrm>
          <a:prstGeom prst="roundRect">
            <a:avLst/>
          </a:prstGeom>
          <a:solidFill>
            <a:srgbClr val="DCE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733288"/>
            <a:ext cx="10515600" cy="365760"/>
          </a:xfrm>
          <a:prstGeom prst="rect">
            <a:avLst/>
          </a:prstGeom>
          <a:noFill/>
        </p:spPr>
        <p:txBody>
          <a:bodyPr wrap="square" lIns="0" rIns="0" tIns="0" bIns="0">
            <a:spAutoFit/>
          </a:bodyPr>
          <a:lstStyle/>
          <a:p>
            <a:pPr>
              <a:spcAft>
                <a:spcPts val="1000"/>
              </a:spcAft>
              <a:defRPr sz="1900" b="1">
                <a:solidFill>
                  <a:srgbClr val="11745B"/>
                </a:solidFill>
                <a:latin typeface="DejaVu Sans"/>
              </a:defRPr>
            </a:pPr>
            <a:r>
              <a:t>Uruchomienie: rozpakuj całość i otwórz index.html. Bez internetu.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5F0"/>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100" b="1">
                <a:solidFill>
                  <a:srgbClr val="11745B"/>
                </a:solidFill>
                <a:latin typeface="DejaVu Sans"/>
              </a:defRPr>
            </a:pPr>
            <a:r>
              <a:t>07 / REALIZACJA I AKTUALNY INTERFEJS</a:t>
            </a:r>
          </a:p>
        </p:txBody>
      </p:sp>
      <p:sp>
        <p:nvSpPr>
          <p:cNvPr id="3" name="TextBox 2"/>
          <p:cNvSpPr txBox="1"/>
          <p:nvPr/>
        </p:nvSpPr>
        <p:spPr>
          <a:xfrm>
            <a:off x="594360" y="859536"/>
            <a:ext cx="11064240" cy="914400"/>
          </a:xfrm>
          <a:prstGeom prst="rect">
            <a:avLst/>
          </a:prstGeom>
          <a:noFill/>
        </p:spPr>
        <p:txBody>
          <a:bodyPr wrap="square" lIns="0" rIns="0" tIns="0" bIns="0">
            <a:spAutoFit/>
          </a:bodyPr>
          <a:lstStyle/>
          <a:p>
            <a:pPr>
              <a:spcAft>
                <a:spcPts val="1000"/>
              </a:spcAft>
              <a:defRPr sz="3400" b="1">
                <a:solidFill>
                  <a:srgbClr val="17372F"/>
                </a:solidFill>
                <a:latin typeface="DejaVu Sans"/>
              </a:defRPr>
            </a:pPr>
            <a:r>
              <a:t>Co dzieje się teraz, a jaki jest wynik?</a:t>
            </a:r>
          </a:p>
        </p:txBody>
      </p:sp>
      <p:sp>
        <p:nvSpPr>
          <p:cNvPr id="4" name="Rectangle 3"/>
          <p:cNvSpPr/>
          <p:nvPr/>
        </p:nvSpPr>
        <p:spPr>
          <a:xfrm>
            <a:off x="594360" y="6400800"/>
            <a:ext cx="10972800" cy="10972"/>
          </a:xfrm>
          <a:prstGeom prst="rect">
            <a:avLst/>
          </a:prstGeom>
          <a:solidFill>
            <a:srgbClr val="CED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10058400" cy="182880"/>
          </a:xfrm>
          <a:prstGeom prst="rect">
            <a:avLst/>
          </a:prstGeom>
          <a:noFill/>
        </p:spPr>
        <p:txBody>
          <a:bodyPr wrap="square" lIns="0" rIns="0" tIns="0" bIns="0">
            <a:spAutoFit/>
          </a:bodyPr>
          <a:lstStyle/>
          <a:p>
            <a:pPr>
              <a:spcAft>
                <a:spcPts val="1000"/>
              </a:spcAft>
              <a:defRPr sz="900" b="0">
                <a:solidFill>
                  <a:srgbClr val="52675F"/>
                </a:solidFill>
                <a:latin typeface="DejaVu Sans"/>
              </a:defRPr>
            </a:pPr>
            <a:r>
              <a:t>ASD1-M1-17  /  Deividas Dirma  /  93791</a:t>
            </a:r>
          </a:p>
        </p:txBody>
      </p:sp>
      <p:sp>
        <p:nvSpPr>
          <p:cNvPr id="6" name="TextBox 5"/>
          <p:cNvSpPr txBox="1"/>
          <p:nvPr/>
        </p:nvSpPr>
        <p:spPr>
          <a:xfrm>
            <a:off x="10972800" y="6519672"/>
            <a:ext cx="640080" cy="228600"/>
          </a:xfrm>
          <a:prstGeom prst="rect">
            <a:avLst/>
          </a:prstGeom>
          <a:noFill/>
        </p:spPr>
        <p:txBody>
          <a:bodyPr wrap="square" lIns="0" rIns="0" tIns="0" bIns="0">
            <a:spAutoFit/>
          </a:bodyPr>
          <a:lstStyle/>
          <a:p>
            <a:pPr>
              <a:spcAft>
                <a:spcPts val="1000"/>
              </a:spcAft>
              <a:defRPr sz="1000" b="0">
                <a:solidFill>
                  <a:srgbClr val="52675F"/>
                </a:solidFill>
                <a:latin typeface="DejaVu Sans"/>
              </a:defRPr>
            </a:pPr>
            <a:r>
              <a:t>07/10</a:t>
            </a:r>
          </a:p>
        </p:txBody>
      </p:sp>
      <p:sp>
        <p:nvSpPr>
          <p:cNvPr id="7" name="TextBox 6"/>
          <p:cNvSpPr txBox="1"/>
          <p:nvPr/>
        </p:nvSpPr>
        <p:spPr>
          <a:xfrm>
            <a:off x="640080" y="1828800"/>
            <a:ext cx="5303520" cy="411480"/>
          </a:xfrm>
          <a:prstGeom prst="rect">
            <a:avLst/>
          </a:prstGeom>
          <a:noFill/>
        </p:spPr>
        <p:txBody>
          <a:bodyPr wrap="square" lIns="0" rIns="0" tIns="0" bIns="0">
            <a:spAutoFit/>
          </a:bodyPr>
          <a:lstStyle/>
          <a:p>
            <a:pPr>
              <a:spcAft>
                <a:spcPts val="1000"/>
              </a:spcAft>
              <a:defRPr sz="1600" b="1">
                <a:solidFill>
                  <a:srgbClr val="11745B"/>
                </a:solidFill>
                <a:latin typeface="DejaVu Sans"/>
              </a:defRPr>
            </a:pPr>
            <a:r>
              <a:t>1 / BIEŻĄCA ANIMACJA</a:t>
            </a:r>
          </a:p>
        </p:txBody>
      </p:sp>
      <p:sp>
        <p:nvSpPr>
          <p:cNvPr id="8" name="TextBox 7"/>
          <p:cNvSpPr txBox="1"/>
          <p:nvPr/>
        </p:nvSpPr>
        <p:spPr>
          <a:xfrm>
            <a:off x="6309360" y="1828800"/>
            <a:ext cx="5212080" cy="411480"/>
          </a:xfrm>
          <a:prstGeom prst="rect">
            <a:avLst/>
          </a:prstGeom>
          <a:noFill/>
        </p:spPr>
        <p:txBody>
          <a:bodyPr wrap="square" lIns="0" rIns="0" tIns="0" bIns="0">
            <a:spAutoFit/>
          </a:bodyPr>
          <a:lstStyle/>
          <a:p>
            <a:pPr>
              <a:spcAft>
                <a:spcPts val="1000"/>
              </a:spcAft>
              <a:defRPr sz="1600" b="1">
                <a:solidFill>
                  <a:srgbClr val="11745B"/>
                </a:solidFill>
                <a:latin typeface="DejaVu Sans"/>
              </a:defRPr>
            </a:pPr>
            <a:r>
              <a:t>2 / „WYNIK KOŃCOWY”</a:t>
            </a:r>
          </a:p>
        </p:txBody>
      </p:sp>
      <p:pic>
        <p:nvPicPr>
          <p:cNvPr id="9" name="Picture 8" descr="ANIMACJA-V2.png"/>
          <p:cNvPicPr>
            <a:picLocks noChangeAspect="1"/>
          </p:cNvPicPr>
          <p:nvPr/>
        </p:nvPicPr>
        <p:blipFill>
          <a:blip r:embed="rId3"/>
          <a:stretch>
            <a:fillRect/>
          </a:stretch>
        </p:blipFill>
        <p:spPr>
          <a:xfrm>
            <a:off x="1289497" y="2377440"/>
            <a:ext cx="3913244" cy="2926080"/>
          </a:xfrm>
          <a:prstGeom prst="rect">
            <a:avLst/>
          </a:prstGeom>
        </p:spPr>
      </p:pic>
      <p:pic>
        <p:nvPicPr>
          <p:cNvPr id="10" name="Picture 9" descr="MAKSIMUM-V2.png"/>
          <p:cNvPicPr>
            <a:picLocks noChangeAspect="1"/>
          </p:cNvPicPr>
          <p:nvPr/>
        </p:nvPicPr>
        <p:blipFill>
          <a:blip r:embed="rId4"/>
          <a:stretch>
            <a:fillRect/>
          </a:stretch>
        </p:blipFill>
        <p:spPr>
          <a:xfrm>
            <a:off x="6770578" y="2377440"/>
            <a:ext cx="4289642" cy="2926080"/>
          </a:xfrm>
          <a:prstGeom prst="rect">
            <a:avLst/>
          </a:prstGeom>
        </p:spPr>
      </p:pic>
      <p:sp>
        <p:nvSpPr>
          <p:cNvPr id="11" name="Rounded Rectangle 10"/>
          <p:cNvSpPr/>
          <p:nvPr/>
        </p:nvSpPr>
        <p:spPr>
          <a:xfrm>
            <a:off x="594360" y="5596128"/>
            <a:ext cx="10972800" cy="566928"/>
          </a:xfrm>
          <a:prstGeom prst="roundRect">
            <a:avLst/>
          </a:prstGeom>
          <a:solidFill>
            <a:srgbClr val="DCE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733288"/>
            <a:ext cx="10515600" cy="365760"/>
          </a:xfrm>
          <a:prstGeom prst="rect">
            <a:avLst/>
          </a:prstGeom>
          <a:noFill/>
        </p:spPr>
        <p:txBody>
          <a:bodyPr wrap="square" lIns="0" rIns="0" tIns="0" bIns="0">
            <a:spAutoFit/>
          </a:bodyPr>
          <a:lstStyle/>
          <a:p>
            <a:pPr>
              <a:spcAft>
                <a:spcPts val="1000"/>
              </a:spcAft>
              <a:defRPr sz="1900" b="1">
                <a:solidFill>
                  <a:srgbClr val="11745B"/>
                </a:solidFill>
                <a:latin typeface="DejaVu Sans"/>
              </a:defRPr>
            </a:pPr>
            <a:r>
              <a:t>Najwięcej rezerwacji naraz może być w dwóch oddzielnych okresach.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5F0"/>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100" b="1">
                <a:solidFill>
                  <a:srgbClr val="11745B"/>
                </a:solidFill>
                <a:latin typeface="DejaVu Sans"/>
              </a:defRPr>
            </a:pPr>
            <a:r>
              <a:t>08 / TESTY I PORÓWNANIE</a:t>
            </a:r>
          </a:p>
        </p:txBody>
      </p:sp>
      <p:sp>
        <p:nvSpPr>
          <p:cNvPr id="3" name="TextBox 2"/>
          <p:cNvSpPr txBox="1"/>
          <p:nvPr/>
        </p:nvSpPr>
        <p:spPr>
          <a:xfrm>
            <a:off x="594360" y="859536"/>
            <a:ext cx="11064240" cy="914400"/>
          </a:xfrm>
          <a:prstGeom prst="rect">
            <a:avLst/>
          </a:prstGeom>
          <a:noFill/>
        </p:spPr>
        <p:txBody>
          <a:bodyPr wrap="square" lIns="0" rIns="0" tIns="0" bIns="0">
            <a:spAutoFit/>
          </a:bodyPr>
          <a:lstStyle/>
          <a:p>
            <a:pPr>
              <a:spcAft>
                <a:spcPts val="1000"/>
              </a:spcAft>
              <a:defRPr sz="3400" b="1">
                <a:solidFill>
                  <a:srgbClr val="17372F"/>
                </a:solidFill>
                <a:latin typeface="DejaVu Sans"/>
              </a:defRPr>
            </a:pPr>
            <a:r>
              <a:t>Czy obie metody dają ten sam wynik?</a:t>
            </a:r>
          </a:p>
        </p:txBody>
      </p:sp>
      <p:sp>
        <p:nvSpPr>
          <p:cNvPr id="4" name="Rectangle 3"/>
          <p:cNvSpPr/>
          <p:nvPr/>
        </p:nvSpPr>
        <p:spPr>
          <a:xfrm>
            <a:off x="594360" y="6400800"/>
            <a:ext cx="10972800" cy="10972"/>
          </a:xfrm>
          <a:prstGeom prst="rect">
            <a:avLst/>
          </a:prstGeom>
          <a:solidFill>
            <a:srgbClr val="CED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10058400" cy="182880"/>
          </a:xfrm>
          <a:prstGeom prst="rect">
            <a:avLst/>
          </a:prstGeom>
          <a:noFill/>
        </p:spPr>
        <p:txBody>
          <a:bodyPr wrap="square" lIns="0" rIns="0" tIns="0" bIns="0">
            <a:spAutoFit/>
          </a:bodyPr>
          <a:lstStyle/>
          <a:p>
            <a:pPr>
              <a:spcAft>
                <a:spcPts val="1000"/>
              </a:spcAft>
              <a:defRPr sz="900" b="0">
                <a:solidFill>
                  <a:srgbClr val="52675F"/>
                </a:solidFill>
                <a:latin typeface="DejaVu Sans"/>
              </a:defRPr>
            </a:pPr>
            <a:r>
              <a:t>ASD1-M1-17  /  Deividas Dirma  /  93791</a:t>
            </a:r>
          </a:p>
        </p:txBody>
      </p:sp>
      <p:sp>
        <p:nvSpPr>
          <p:cNvPr id="6" name="TextBox 5"/>
          <p:cNvSpPr txBox="1"/>
          <p:nvPr/>
        </p:nvSpPr>
        <p:spPr>
          <a:xfrm>
            <a:off x="10972800" y="6519672"/>
            <a:ext cx="640080" cy="228600"/>
          </a:xfrm>
          <a:prstGeom prst="rect">
            <a:avLst/>
          </a:prstGeom>
          <a:noFill/>
        </p:spPr>
        <p:txBody>
          <a:bodyPr wrap="square" lIns="0" rIns="0" tIns="0" bIns="0">
            <a:spAutoFit/>
          </a:bodyPr>
          <a:lstStyle/>
          <a:p>
            <a:pPr>
              <a:spcAft>
                <a:spcPts val="1000"/>
              </a:spcAft>
              <a:defRPr sz="1000" b="0">
                <a:solidFill>
                  <a:srgbClr val="52675F"/>
                </a:solidFill>
                <a:latin typeface="DejaVu Sans"/>
              </a:defRPr>
            </a:pPr>
            <a:r>
              <a:t>08/10</a:t>
            </a:r>
          </a:p>
        </p:txBody>
      </p:sp>
      <p:graphicFrame>
        <p:nvGraphicFramePr>
          <p:cNvPr id="7" name="Table 6"/>
          <p:cNvGraphicFramePr>
            <a:graphicFrameLocks noGrp="1"/>
          </p:cNvGraphicFramePr>
          <p:nvPr/>
        </p:nvGraphicFramePr>
        <p:xfrm>
          <a:off x="594360" y="1938528"/>
          <a:ext cx="10972800" cy="2103120"/>
        </p:xfrm>
        <a:graphic>
          <a:graphicData uri="http://schemas.openxmlformats.org/drawingml/2006/table">
            <a:tbl>
              <a:tblPr firstRow="1" bandRow="1">
                <a:tableStyleId>{5C22544A-7EE6-4342-B048-85BDC9FD1C3A}</a:tableStyleId>
              </a:tblPr>
              <a:tblGrid>
                <a:gridCol w="2743200"/>
                <a:gridCol w="2743200"/>
                <a:gridCol w="2743200"/>
                <a:gridCol w="2743200"/>
              </a:tblGrid>
              <a:tr h="525780">
                <a:tc>
                  <a:txBody>
                    <a:bodyPr/>
                    <a:lstStyle/>
                    <a:p>
                      <a:pPr>
                        <a:defRPr sz="2000">
                          <a:solidFill>
                            <a:srgbClr val="FFFFFF"/>
                          </a:solidFill>
                          <a:latin typeface="DejaVu Sans"/>
                        </a:defRPr>
                      </a:pPr>
                      <a:r>
                        <a:t>Przedziały n</a:t>
                      </a:r>
                    </a:p>
                  </a:txBody>
                  <a:tcPr>
                    <a:solidFill>
                      <a:srgbClr val="11745B"/>
                    </a:solidFill>
                  </a:tcPr>
                </a:tc>
                <a:tc>
                  <a:txBody>
                    <a:bodyPr/>
                    <a:lstStyle/>
                    <a:p>
                      <a:pPr>
                        <a:defRPr sz="1700">
                          <a:solidFill>
                            <a:srgbClr val="FFFFFF"/>
                          </a:solidFill>
                          <a:latin typeface="DejaVu Sans"/>
                        </a:defRPr>
                      </a:pPr>
                      <a:r>
                        <a:t>Najwięcej naraz</a:t>
                      </a:r>
                    </a:p>
                  </a:txBody>
                  <a:tcPr>
                    <a:solidFill>
                      <a:srgbClr val="11745B"/>
                    </a:solidFill>
                  </a:tcPr>
                </a:tc>
                <a:tc>
                  <a:txBody>
                    <a:bodyPr/>
                    <a:lstStyle/>
                    <a:p>
                      <a:pPr>
                        <a:defRPr sz="1700">
                          <a:solidFill>
                            <a:srgbClr val="FFFFFF"/>
                          </a:solidFill>
                          <a:latin typeface="DejaVu Sans"/>
                        </a:defRPr>
                      </a:pPr>
                      <a:r>
                        <a:t>Początki i końce: 2n</a:t>
                      </a:r>
                    </a:p>
                  </a:txBody>
                  <a:tcPr>
                    <a:solidFill>
                      <a:srgbClr val="11745B"/>
                    </a:solidFill>
                  </a:tcPr>
                </a:tc>
                <a:tc>
                  <a:txBody>
                    <a:bodyPr/>
                    <a:lstStyle/>
                    <a:p>
                      <a:pPr>
                        <a:defRPr sz="1700">
                          <a:solidFill>
                            <a:srgbClr val="FFFFFF"/>
                          </a:solidFill>
                          <a:latin typeface="DejaVu Sans"/>
                        </a:defRPr>
                      </a:pPr>
                      <a:r>
                        <a:t>Co jednostkę: 100n</a:t>
                      </a:r>
                    </a:p>
                  </a:txBody>
                  <a:tcPr>
                    <a:solidFill>
                      <a:srgbClr val="11745B"/>
                    </a:solidFill>
                  </a:tcPr>
                </a:tc>
              </a:tr>
              <a:tr h="525780">
                <a:tc>
                  <a:txBody>
                    <a:bodyPr/>
                    <a:lstStyle/>
                    <a:p>
                      <a:pPr>
                        <a:defRPr sz="2700">
                          <a:solidFill>
                            <a:srgbClr val="17372F"/>
                          </a:solidFill>
                          <a:latin typeface="DejaVu Sans"/>
                        </a:defRPr>
                      </a:pPr>
                      <a:r>
                        <a:t>5</a:t>
                      </a:r>
                    </a:p>
                  </a:txBody>
                  <a:tcPr>
                    <a:solidFill>
                      <a:srgbClr val="FFFFFF"/>
                    </a:solidFill>
                  </a:tcPr>
                </a:tc>
                <a:tc>
                  <a:txBody>
                    <a:bodyPr/>
                    <a:lstStyle/>
                    <a:p>
                      <a:pPr>
                        <a:defRPr sz="2700">
                          <a:solidFill>
                            <a:srgbClr val="17372F"/>
                          </a:solidFill>
                          <a:latin typeface="DejaVu Sans"/>
                        </a:defRPr>
                      </a:pPr>
                      <a:r>
                        <a:t>2</a:t>
                      </a:r>
                    </a:p>
                  </a:txBody>
                  <a:tcPr>
                    <a:solidFill>
                      <a:srgbClr val="FFFFFF"/>
                    </a:solidFill>
                  </a:tcPr>
                </a:tc>
                <a:tc>
                  <a:txBody>
                    <a:bodyPr/>
                    <a:lstStyle/>
                    <a:p>
                      <a:pPr>
                        <a:defRPr sz="2700">
                          <a:solidFill>
                            <a:srgbClr val="17372F"/>
                          </a:solidFill>
                          <a:latin typeface="DejaVu Sans"/>
                        </a:defRPr>
                      </a:pPr>
                      <a:r>
                        <a:t>10</a:t>
                      </a:r>
                    </a:p>
                  </a:txBody>
                  <a:tcPr>
                    <a:solidFill>
                      <a:srgbClr val="FFFFFF"/>
                    </a:solidFill>
                  </a:tcPr>
                </a:tc>
                <a:tc>
                  <a:txBody>
                    <a:bodyPr/>
                    <a:lstStyle/>
                    <a:p>
                      <a:pPr>
                        <a:defRPr sz="2700">
                          <a:solidFill>
                            <a:srgbClr val="17372F"/>
                          </a:solidFill>
                          <a:latin typeface="DejaVu Sans"/>
                        </a:defRPr>
                      </a:pPr>
                      <a:r>
                        <a:t>500</a:t>
                      </a:r>
                    </a:p>
                  </a:txBody>
                  <a:tcPr>
                    <a:solidFill>
                      <a:srgbClr val="FFFFFF"/>
                    </a:solidFill>
                  </a:tcPr>
                </a:tc>
              </a:tr>
              <a:tr h="525780">
                <a:tc>
                  <a:txBody>
                    <a:bodyPr/>
                    <a:lstStyle/>
                    <a:p>
                      <a:pPr>
                        <a:defRPr sz="2700">
                          <a:solidFill>
                            <a:srgbClr val="17372F"/>
                          </a:solidFill>
                          <a:latin typeface="DejaVu Sans"/>
                        </a:defRPr>
                      </a:pPr>
                      <a:r>
                        <a:t>15</a:t>
                      </a:r>
                    </a:p>
                  </a:txBody>
                  <a:tcPr>
                    <a:solidFill>
                      <a:srgbClr val="FFFFFF"/>
                    </a:solidFill>
                  </a:tcPr>
                </a:tc>
                <a:tc>
                  <a:txBody>
                    <a:bodyPr/>
                    <a:lstStyle/>
                    <a:p>
                      <a:pPr>
                        <a:defRPr sz="2700">
                          <a:solidFill>
                            <a:srgbClr val="17372F"/>
                          </a:solidFill>
                          <a:latin typeface="DejaVu Sans"/>
                        </a:defRPr>
                      </a:pPr>
                      <a:r>
                        <a:t>8</a:t>
                      </a:r>
                    </a:p>
                  </a:txBody>
                  <a:tcPr>
                    <a:solidFill>
                      <a:srgbClr val="FFFFFF"/>
                    </a:solidFill>
                  </a:tcPr>
                </a:tc>
                <a:tc>
                  <a:txBody>
                    <a:bodyPr/>
                    <a:lstStyle/>
                    <a:p>
                      <a:pPr>
                        <a:defRPr sz="2700">
                          <a:solidFill>
                            <a:srgbClr val="17372F"/>
                          </a:solidFill>
                          <a:latin typeface="DejaVu Sans"/>
                        </a:defRPr>
                      </a:pPr>
                      <a:r>
                        <a:t>30</a:t>
                      </a:r>
                    </a:p>
                  </a:txBody>
                  <a:tcPr>
                    <a:solidFill>
                      <a:srgbClr val="FFFFFF"/>
                    </a:solidFill>
                  </a:tcPr>
                </a:tc>
                <a:tc>
                  <a:txBody>
                    <a:bodyPr/>
                    <a:lstStyle/>
                    <a:p>
                      <a:pPr>
                        <a:defRPr sz="2700">
                          <a:solidFill>
                            <a:srgbClr val="17372F"/>
                          </a:solidFill>
                          <a:latin typeface="DejaVu Sans"/>
                        </a:defRPr>
                      </a:pPr>
                      <a:r>
                        <a:t>1500</a:t>
                      </a:r>
                    </a:p>
                  </a:txBody>
                  <a:tcPr>
                    <a:solidFill>
                      <a:srgbClr val="FFFFFF"/>
                    </a:solidFill>
                  </a:tcPr>
                </a:tc>
              </a:tr>
              <a:tr h="525780">
                <a:tc>
                  <a:txBody>
                    <a:bodyPr/>
                    <a:lstStyle/>
                    <a:p>
                      <a:pPr>
                        <a:defRPr sz="2700">
                          <a:solidFill>
                            <a:srgbClr val="17372F"/>
                          </a:solidFill>
                          <a:latin typeface="DejaVu Sans"/>
                        </a:defRPr>
                      </a:pPr>
                      <a:r>
                        <a:t>30</a:t>
                      </a:r>
                    </a:p>
                  </a:txBody>
                  <a:tcPr>
                    <a:solidFill>
                      <a:srgbClr val="FFFFFF"/>
                    </a:solidFill>
                  </a:tcPr>
                </a:tc>
                <a:tc>
                  <a:txBody>
                    <a:bodyPr/>
                    <a:lstStyle/>
                    <a:p>
                      <a:pPr>
                        <a:defRPr sz="2700">
                          <a:solidFill>
                            <a:srgbClr val="17372F"/>
                          </a:solidFill>
                          <a:latin typeface="DejaVu Sans"/>
                        </a:defRPr>
                      </a:pPr>
                      <a:r>
                        <a:t>15</a:t>
                      </a:r>
                    </a:p>
                  </a:txBody>
                  <a:tcPr>
                    <a:solidFill>
                      <a:srgbClr val="FFFFFF"/>
                    </a:solidFill>
                  </a:tcPr>
                </a:tc>
                <a:tc>
                  <a:txBody>
                    <a:bodyPr/>
                    <a:lstStyle/>
                    <a:p>
                      <a:pPr>
                        <a:defRPr sz="2700">
                          <a:solidFill>
                            <a:srgbClr val="17372F"/>
                          </a:solidFill>
                          <a:latin typeface="DejaVu Sans"/>
                        </a:defRPr>
                      </a:pPr>
                      <a:r>
                        <a:t>60</a:t>
                      </a:r>
                    </a:p>
                  </a:txBody>
                  <a:tcPr>
                    <a:solidFill>
                      <a:srgbClr val="FFFFFF"/>
                    </a:solidFill>
                  </a:tcPr>
                </a:tc>
                <a:tc>
                  <a:txBody>
                    <a:bodyPr/>
                    <a:lstStyle/>
                    <a:p>
                      <a:pPr>
                        <a:defRPr sz="2700">
                          <a:solidFill>
                            <a:srgbClr val="17372F"/>
                          </a:solidFill>
                          <a:latin typeface="DejaVu Sans"/>
                        </a:defRPr>
                      </a:pPr>
                      <a:r>
                        <a:t>3000</a:t>
                      </a:r>
                    </a:p>
                  </a:txBody>
                  <a:tcPr>
                    <a:solidFill>
                      <a:srgbClr val="FFFFFF"/>
                    </a:solidFill>
                  </a:tcPr>
                </a:tc>
              </a:tr>
            </a:tbl>
          </a:graphicData>
        </a:graphic>
      </p:graphicFrame>
      <p:sp>
        <p:nvSpPr>
          <p:cNvPr id="8" name="TextBox 7"/>
          <p:cNvSpPr txBox="1"/>
          <p:nvPr/>
        </p:nvSpPr>
        <p:spPr>
          <a:xfrm>
            <a:off x="731520" y="4297680"/>
            <a:ext cx="10972800" cy="457200"/>
          </a:xfrm>
          <a:prstGeom prst="rect">
            <a:avLst/>
          </a:prstGeom>
          <a:noFill/>
        </p:spPr>
        <p:txBody>
          <a:bodyPr wrap="square" lIns="0" rIns="0" tIns="0" bIns="0">
            <a:spAutoFit/>
          </a:bodyPr>
          <a:lstStyle/>
          <a:p>
            <a:pPr>
              <a:spcAft>
                <a:spcPts val="1000"/>
              </a:spcAft>
              <a:defRPr sz="2000" b="0">
                <a:solidFill>
                  <a:srgbClr val="11745B"/>
                </a:solidFill>
                <a:latin typeface="DejaVu Sans"/>
              </a:defRPr>
            </a:pPr>
            <a:r>
              <a:t>Sortowanie: 11 / 184 / 856 porównań — koszt liczymy osobno.</a:t>
            </a:r>
          </a:p>
        </p:txBody>
      </p:sp>
      <p:sp>
        <p:nvSpPr>
          <p:cNvPr id="9" name="TextBox 8"/>
          <p:cNvSpPr txBox="1"/>
          <p:nvPr/>
        </p:nvSpPr>
        <p:spPr>
          <a:xfrm>
            <a:off x="731520" y="4828032"/>
            <a:ext cx="10972800" cy="502920"/>
          </a:xfrm>
          <a:prstGeom prst="rect">
            <a:avLst/>
          </a:prstGeom>
          <a:noFill/>
        </p:spPr>
        <p:txBody>
          <a:bodyPr wrap="square" lIns="0" rIns="0" tIns="0" bIns="0">
            <a:spAutoFit/>
          </a:bodyPr>
          <a:lstStyle/>
          <a:p>
            <a:pPr>
              <a:spcAft>
                <a:spcPts val="1000"/>
              </a:spcAft>
              <a:defRPr sz="1800" b="0">
                <a:solidFill>
                  <a:srgbClr val="52675F"/>
                </a:solidFill>
                <a:latin typeface="DejaVu Sans"/>
              </a:defRPr>
            </a:pPr>
            <a:r>
              <a:t>Raport agenta, 26.10.2026: 46/46 testów · osobno 15/15 kontroli UI</a:t>
            </a:r>
          </a:p>
        </p:txBody>
      </p:sp>
      <p:sp>
        <p:nvSpPr>
          <p:cNvPr id="10" name="Rounded Rectangle 9"/>
          <p:cNvSpPr/>
          <p:nvPr/>
        </p:nvSpPr>
        <p:spPr>
          <a:xfrm>
            <a:off x="594360" y="5596128"/>
            <a:ext cx="10972800" cy="566928"/>
          </a:xfrm>
          <a:prstGeom prst="roundRect">
            <a:avLst/>
          </a:prstGeom>
          <a:solidFill>
            <a:srgbClr val="DCE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733288"/>
            <a:ext cx="10515600" cy="365760"/>
          </a:xfrm>
          <a:prstGeom prst="rect">
            <a:avLst/>
          </a:prstGeom>
          <a:noFill/>
        </p:spPr>
        <p:txBody>
          <a:bodyPr wrap="square" lIns="0" rIns="0" tIns="0" bIns="0">
            <a:spAutoFit/>
          </a:bodyPr>
          <a:lstStyle/>
          <a:p>
            <a:pPr>
              <a:spcAft>
                <a:spcPts val="1000"/>
              </a:spcAft>
              <a:defRPr sz="1900" b="1">
                <a:solidFill>
                  <a:srgbClr val="11745B"/>
                </a:solidFill>
                <a:latin typeface="DejaVu Sans"/>
              </a:defRPr>
            </a:pPr>
            <a:r>
              <a:t>Liczymy operacje, nie czas. Sortowanie przez wstawianie: O(n²).</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5F0"/>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100" b="1">
                <a:solidFill>
                  <a:srgbClr val="11745B"/>
                </a:solidFill>
                <a:latin typeface="DejaVu Sans"/>
              </a:defRPr>
            </a:pPr>
            <a:r>
              <a:t>09 / POMOC AI, WŁASNY WKŁAD I WNIOSKI</a:t>
            </a:r>
          </a:p>
        </p:txBody>
      </p:sp>
      <p:sp>
        <p:nvSpPr>
          <p:cNvPr id="3" name="TextBox 2"/>
          <p:cNvSpPr txBox="1"/>
          <p:nvPr/>
        </p:nvSpPr>
        <p:spPr>
          <a:xfrm>
            <a:off x="594360" y="859536"/>
            <a:ext cx="11064240" cy="914400"/>
          </a:xfrm>
          <a:prstGeom prst="rect">
            <a:avLst/>
          </a:prstGeom>
          <a:noFill/>
        </p:spPr>
        <p:txBody>
          <a:bodyPr wrap="square" lIns="0" rIns="0" tIns="0" bIns="0">
            <a:spAutoFit/>
          </a:bodyPr>
          <a:lstStyle/>
          <a:p>
            <a:pPr>
              <a:spcAft>
                <a:spcPts val="1000"/>
              </a:spcAft>
              <a:defRPr sz="3400" b="1">
                <a:solidFill>
                  <a:srgbClr val="17372F"/>
                </a:solidFill>
                <a:latin typeface="DejaVu Sans"/>
              </a:defRPr>
            </a:pPr>
            <a:r>
              <a:t>Jak pomógł OpenClaw?</a:t>
            </a:r>
          </a:p>
        </p:txBody>
      </p:sp>
      <p:sp>
        <p:nvSpPr>
          <p:cNvPr id="4" name="Rectangle 3"/>
          <p:cNvSpPr/>
          <p:nvPr/>
        </p:nvSpPr>
        <p:spPr>
          <a:xfrm>
            <a:off x="594360" y="6400800"/>
            <a:ext cx="10972800" cy="10972"/>
          </a:xfrm>
          <a:prstGeom prst="rect">
            <a:avLst/>
          </a:prstGeom>
          <a:solidFill>
            <a:srgbClr val="CEDA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10058400" cy="182880"/>
          </a:xfrm>
          <a:prstGeom prst="rect">
            <a:avLst/>
          </a:prstGeom>
          <a:noFill/>
        </p:spPr>
        <p:txBody>
          <a:bodyPr wrap="square" lIns="0" rIns="0" tIns="0" bIns="0">
            <a:spAutoFit/>
          </a:bodyPr>
          <a:lstStyle/>
          <a:p>
            <a:pPr>
              <a:spcAft>
                <a:spcPts val="1000"/>
              </a:spcAft>
              <a:defRPr sz="900" b="0">
                <a:solidFill>
                  <a:srgbClr val="52675F"/>
                </a:solidFill>
                <a:latin typeface="DejaVu Sans"/>
              </a:defRPr>
            </a:pPr>
            <a:r>
              <a:t>ASD1-M1-17  /  Deividas Dirma  /  93791</a:t>
            </a:r>
          </a:p>
        </p:txBody>
      </p:sp>
      <p:sp>
        <p:nvSpPr>
          <p:cNvPr id="6" name="TextBox 5"/>
          <p:cNvSpPr txBox="1"/>
          <p:nvPr/>
        </p:nvSpPr>
        <p:spPr>
          <a:xfrm>
            <a:off x="10972800" y="6519672"/>
            <a:ext cx="640080" cy="228600"/>
          </a:xfrm>
          <a:prstGeom prst="rect">
            <a:avLst/>
          </a:prstGeom>
          <a:noFill/>
        </p:spPr>
        <p:txBody>
          <a:bodyPr wrap="square" lIns="0" rIns="0" tIns="0" bIns="0">
            <a:spAutoFit/>
          </a:bodyPr>
          <a:lstStyle/>
          <a:p>
            <a:pPr>
              <a:spcAft>
                <a:spcPts val="1000"/>
              </a:spcAft>
              <a:defRPr sz="1000" b="0">
                <a:solidFill>
                  <a:srgbClr val="52675F"/>
                </a:solidFill>
                <a:latin typeface="DejaVu Sans"/>
              </a:defRPr>
            </a:pPr>
            <a:r>
              <a:t>09/10</a:t>
            </a:r>
          </a:p>
        </p:txBody>
      </p:sp>
      <p:sp>
        <p:nvSpPr>
          <p:cNvPr id="7" name="Rounded Rectangle 6"/>
          <p:cNvSpPr/>
          <p:nvPr/>
        </p:nvSpPr>
        <p:spPr>
          <a:xfrm>
            <a:off x="594360" y="1847088"/>
            <a:ext cx="5303520" cy="22677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11680"/>
            <a:ext cx="4937759" cy="365760"/>
          </a:xfrm>
          <a:prstGeom prst="rect">
            <a:avLst/>
          </a:prstGeom>
          <a:noFill/>
        </p:spPr>
        <p:txBody>
          <a:bodyPr wrap="square" lIns="0" rIns="0" tIns="0" bIns="0">
            <a:spAutoFit/>
          </a:bodyPr>
          <a:lstStyle/>
          <a:p>
            <a:pPr>
              <a:spcAft>
                <a:spcPts val="1000"/>
              </a:spcAft>
              <a:defRPr sz="1300" b="1">
                <a:solidFill>
                  <a:srgbClr val="11745B"/>
                </a:solidFill>
                <a:latin typeface="DejaVu Sans"/>
              </a:defRPr>
            </a:pPr>
            <a:r>
              <a:t>POMOC AGENTA</a:t>
            </a:r>
          </a:p>
        </p:txBody>
      </p:sp>
      <p:sp>
        <p:nvSpPr>
          <p:cNvPr id="9" name="TextBox 8"/>
          <p:cNvSpPr txBox="1"/>
          <p:nvPr/>
        </p:nvSpPr>
        <p:spPr>
          <a:xfrm>
            <a:off x="777240" y="2560320"/>
            <a:ext cx="4937759" cy="1444752"/>
          </a:xfrm>
          <a:prstGeom prst="rect">
            <a:avLst/>
          </a:prstGeom>
          <a:noFill/>
        </p:spPr>
        <p:txBody>
          <a:bodyPr wrap="square" lIns="0" rIns="0" tIns="0" bIns="0">
            <a:spAutoFit/>
          </a:bodyPr>
          <a:lstStyle/>
          <a:p>
            <a:pPr>
              <a:spcAft>
                <a:spcPts val="1000"/>
              </a:spcAft>
              <a:defRPr sz="2300" b="0">
                <a:solidFill>
                  <a:srgbClr val="17372F"/>
                </a:solidFill>
                <a:latin typeface="DejaVu Sans"/>
              </a:defRPr>
            </a:pPr>
            <a:r>
              <a:t>Kod i algorytmy</a:t>
            </a:r>
          </a:p>
          <a:p>
            <a:pPr>
              <a:spcAft>
                <a:spcPts val="1000"/>
              </a:spcAft>
              <a:defRPr sz="2300" b="0">
                <a:solidFill>
                  <a:srgbClr val="17372F"/>
                </a:solidFill>
                <a:latin typeface="DejaVu Sans"/>
              </a:defRPr>
            </a:pPr>
            <a:r>
              <a:t>Animacja, testy i materiały</a:t>
            </a:r>
          </a:p>
          <a:p>
            <a:pPr>
              <a:spcAft>
                <a:spcPts val="1000"/>
              </a:spcAft>
              <a:defRPr sz="2300" b="0">
                <a:solidFill>
                  <a:srgbClr val="17372F"/>
                </a:solidFill>
                <a:latin typeface="DejaVu Sans"/>
              </a:defRPr>
            </a:pPr>
            <a:r>
              <a:t>Widok i oś końcowego wyniku</a:t>
            </a:r>
          </a:p>
        </p:txBody>
      </p:sp>
      <p:sp>
        <p:nvSpPr>
          <p:cNvPr id="10" name="Rounded Rectangle 9"/>
          <p:cNvSpPr/>
          <p:nvPr/>
        </p:nvSpPr>
        <p:spPr>
          <a:xfrm>
            <a:off x="6172200" y="1847088"/>
            <a:ext cx="5394960" cy="22677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2011680"/>
            <a:ext cx="5029200" cy="365760"/>
          </a:xfrm>
          <a:prstGeom prst="rect">
            <a:avLst/>
          </a:prstGeom>
          <a:noFill/>
        </p:spPr>
        <p:txBody>
          <a:bodyPr wrap="square" lIns="0" rIns="0" tIns="0" bIns="0">
            <a:spAutoFit/>
          </a:bodyPr>
          <a:lstStyle/>
          <a:p>
            <a:pPr>
              <a:spcAft>
                <a:spcPts val="1000"/>
              </a:spcAft>
              <a:defRPr sz="1300" b="1">
                <a:solidFill>
                  <a:srgbClr val="11745B"/>
                </a:solidFill>
                <a:latin typeface="DejaVu Sans"/>
              </a:defRPr>
            </a:pPr>
            <a:r>
              <a:t>MÓJ WKŁAD</a:t>
            </a:r>
          </a:p>
        </p:txBody>
      </p:sp>
      <p:sp>
        <p:nvSpPr>
          <p:cNvPr id="12" name="TextBox 11"/>
          <p:cNvSpPr txBox="1"/>
          <p:nvPr/>
        </p:nvSpPr>
        <p:spPr>
          <a:xfrm>
            <a:off x="6355080" y="2560320"/>
            <a:ext cx="5029200" cy="1444752"/>
          </a:xfrm>
          <a:prstGeom prst="rect">
            <a:avLst/>
          </a:prstGeom>
          <a:noFill/>
        </p:spPr>
        <p:txBody>
          <a:bodyPr wrap="square" lIns="0" rIns="0" tIns="0" bIns="0">
            <a:spAutoFit/>
          </a:bodyPr>
          <a:lstStyle/>
          <a:p>
            <a:pPr>
              <a:spcAft>
                <a:spcPts val="1000"/>
              </a:spcAft>
              <a:defRPr sz="2300" b="0">
                <a:solidFill>
                  <a:srgbClr val="17372F"/>
                </a:solidFill>
                <a:latin typeface="DejaVu Sans"/>
              </a:defRPr>
            </a:pPr>
            <a:r>
              <a:t>Określanie oczekiwań</a:t>
            </a:r>
          </a:p>
          <a:p>
            <a:pPr>
              <a:spcAft>
                <a:spcPts val="1000"/>
              </a:spcAft>
              <a:defRPr sz="2300" b="0">
                <a:solidFill>
                  <a:srgbClr val="17372F"/>
                </a:solidFill>
                <a:latin typeface="DejaVu Sans"/>
              </a:defRPr>
            </a:pPr>
            <a:r>
              <a:t>Wybór układu i nazw</a:t>
            </a:r>
          </a:p>
          <a:p>
            <a:pPr>
              <a:spcAft>
                <a:spcPts val="1000"/>
              </a:spcAft>
              <a:defRPr sz="2300" b="0">
                <a:solidFill>
                  <a:srgbClr val="17372F"/>
                </a:solidFill>
                <a:latin typeface="DejaVu Sans"/>
              </a:defRPr>
            </a:pPr>
            <a:r>
              <a:t>Uwagi i zlecanie poprawek</a:t>
            </a:r>
          </a:p>
        </p:txBody>
      </p:sp>
      <p:sp>
        <p:nvSpPr>
          <p:cNvPr id="13" name="TextBox 12"/>
          <p:cNvSpPr txBox="1"/>
          <p:nvPr/>
        </p:nvSpPr>
        <p:spPr>
          <a:xfrm>
            <a:off x="731520" y="4315968"/>
            <a:ext cx="10789920" cy="640080"/>
          </a:xfrm>
          <a:prstGeom prst="rect">
            <a:avLst/>
          </a:prstGeom>
          <a:noFill/>
        </p:spPr>
        <p:txBody>
          <a:bodyPr wrap="square" lIns="0" rIns="0" tIns="0" bIns="0">
            <a:spAutoFit/>
          </a:bodyPr>
          <a:lstStyle/>
          <a:p>
            <a:pPr>
              <a:spcAft>
                <a:spcPts val="1000"/>
              </a:spcAft>
              <a:defRPr sz="1700" b="0">
                <a:solidFill>
                  <a:srgbClr val="11745B"/>
                </a:solidFill>
                <a:latin typeface="DejaVu Sans"/>
              </a:defRPr>
            </a:pPr>
            <a:r>
              <a:t>OpenClaw + Codex Sol 6.1 · rozumowanie medium</a:t>
            </a:r>
          </a:p>
          <a:p>
            <a:pPr>
              <a:spcAft>
                <a:spcPts val="1000"/>
              </a:spcAft>
              <a:defRPr sz="1700" b="0">
                <a:solidFill>
                  <a:srgbClr val="11745B"/>
                </a:solidFill>
                <a:latin typeface="DejaVu Sans"/>
              </a:defRPr>
            </a:pPr>
            <a:r>
              <a:t>Konfiguracja podana przez autora. Także ChatGPT/Codex: przegląd i wskazówki.</a:t>
            </a:r>
          </a:p>
        </p:txBody>
      </p:sp>
      <p:sp>
        <p:nvSpPr>
          <p:cNvPr id="14" name="TextBox 13"/>
          <p:cNvSpPr txBox="1"/>
          <p:nvPr/>
        </p:nvSpPr>
        <p:spPr>
          <a:xfrm>
            <a:off x="731520" y="5138928"/>
            <a:ext cx="10789920" cy="548640"/>
          </a:xfrm>
          <a:prstGeom prst="rect">
            <a:avLst/>
          </a:prstGeom>
          <a:noFill/>
        </p:spPr>
        <p:txBody>
          <a:bodyPr wrap="square" lIns="0" rIns="0" tIns="0" bIns="0">
            <a:spAutoFit/>
          </a:bodyPr>
          <a:lstStyle/>
          <a:p>
            <a:pPr>
              <a:spcAft>
                <a:spcPts val="1000"/>
              </a:spcAft>
              <a:defRPr sz="1700" b="0">
                <a:solidFill>
                  <a:srgbClr val="17372F"/>
                </a:solidFill>
                <a:latin typeface="DejaVu Sans"/>
              </a:defRPr>
            </a:pPr>
            <a:r>
              <a:t>Wniosek: styk nie jest konfliktem. Limit: 30 wpisów, całkowite 0–100, bez zapisu.</a:t>
            </a:r>
          </a:p>
        </p:txBody>
      </p:sp>
      <p:sp>
        <p:nvSpPr>
          <p:cNvPr id="15" name="TextBox 14"/>
          <p:cNvSpPr txBox="1"/>
          <p:nvPr/>
        </p:nvSpPr>
        <p:spPr>
          <a:xfrm>
            <a:off x="731520" y="5824728"/>
            <a:ext cx="10789920" cy="365760"/>
          </a:xfrm>
          <a:prstGeom prst="rect">
            <a:avLst/>
          </a:prstGeom>
          <a:noFill/>
        </p:spPr>
        <p:txBody>
          <a:bodyPr wrap="square" lIns="0" rIns="0" tIns="0" bIns="0">
            <a:spAutoFit/>
          </a:bodyPr>
          <a:lstStyle/>
          <a:p>
            <a:pPr>
              <a:spcAft>
                <a:spcPts val="1000"/>
              </a:spcAft>
              <a:defRPr sz="1300" b="0">
                <a:solidFill>
                  <a:srgbClr val="52675F"/>
                </a:solidFill>
                <a:latin typeface="DejaVu Sans"/>
              </a:defRPr>
            </a:pPr>
            <a:r>
              <a:t>Źródła: karta, kod i raport testów, MDN, Princeton — odnośniki w notatkach.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72F"/>
        </a:solidFill>
        <a:effectLst/>
      </p:bgPr>
    </p:bg>
    <p:spTree>
      <p:nvGrpSpPr>
        <p:cNvPr id="1" name=""/>
        <p:cNvGrpSpPr/>
        <p:nvPr/>
      </p:nvGrpSpPr>
      <p:grpSpPr/>
      <p:sp>
        <p:nvSpPr>
          <p:cNvPr id="2" name="TextBox 1"/>
          <p:cNvSpPr txBox="1"/>
          <p:nvPr/>
        </p:nvSpPr>
        <p:spPr>
          <a:xfrm>
            <a:off x="594360" y="320040"/>
            <a:ext cx="10058400" cy="274320"/>
          </a:xfrm>
          <a:prstGeom prst="rect">
            <a:avLst/>
          </a:prstGeom>
          <a:noFill/>
        </p:spPr>
        <p:txBody>
          <a:bodyPr wrap="square" lIns="0" rIns="0" tIns="0" bIns="0">
            <a:spAutoFit/>
          </a:bodyPr>
          <a:lstStyle/>
          <a:p>
            <a:pPr>
              <a:spcAft>
                <a:spcPts val="1000"/>
              </a:spcAft>
              <a:defRPr sz="1100" b="1">
                <a:solidFill>
                  <a:srgbClr val="A8D8C4"/>
                </a:solidFill>
                <a:latin typeface="DejaVu Sans"/>
              </a:defRPr>
            </a:pPr>
            <a:r>
              <a:t>10 / PLAN DEMONSTRACJI PRODUKTU</a:t>
            </a:r>
          </a:p>
        </p:txBody>
      </p:sp>
      <p:sp>
        <p:nvSpPr>
          <p:cNvPr id="3" name="TextBox 2"/>
          <p:cNvSpPr txBox="1"/>
          <p:nvPr/>
        </p:nvSpPr>
        <p:spPr>
          <a:xfrm>
            <a:off x="594360" y="859536"/>
            <a:ext cx="11064240" cy="914400"/>
          </a:xfrm>
          <a:prstGeom prst="rect">
            <a:avLst/>
          </a:prstGeom>
          <a:noFill/>
        </p:spPr>
        <p:txBody>
          <a:bodyPr wrap="square" lIns="0" rIns="0" tIns="0" bIns="0">
            <a:spAutoFit/>
          </a:bodyPr>
          <a:lstStyle/>
          <a:p>
            <a:pPr>
              <a:spcAft>
                <a:spcPts val="1000"/>
              </a:spcAft>
              <a:defRPr sz="3400" b="1">
                <a:solidFill>
                  <a:srgbClr val="FFFFFF"/>
                </a:solidFill>
                <a:latin typeface="DejaVu Sans"/>
              </a:defRPr>
            </a:pPr>
            <a:r>
              <a:t>Teraz sprawdźmy to w aplikacji.</a:t>
            </a:r>
          </a:p>
        </p:txBody>
      </p:sp>
      <p:sp>
        <p:nvSpPr>
          <p:cNvPr id="4" name="Rectangle 3"/>
          <p:cNvSpPr/>
          <p:nvPr/>
        </p:nvSpPr>
        <p:spPr>
          <a:xfrm>
            <a:off x="594360" y="6400800"/>
            <a:ext cx="10972800" cy="10972"/>
          </a:xfrm>
          <a:prstGeom prst="rect">
            <a:avLst/>
          </a:prstGeom>
          <a:solidFill>
            <a:srgbClr val="4162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10058400" cy="182880"/>
          </a:xfrm>
          <a:prstGeom prst="rect">
            <a:avLst/>
          </a:prstGeom>
          <a:noFill/>
        </p:spPr>
        <p:txBody>
          <a:bodyPr wrap="square" lIns="0" rIns="0" tIns="0" bIns="0">
            <a:spAutoFit/>
          </a:bodyPr>
          <a:lstStyle/>
          <a:p>
            <a:pPr>
              <a:spcAft>
                <a:spcPts val="1000"/>
              </a:spcAft>
              <a:defRPr sz="900" b="0">
                <a:solidFill>
                  <a:srgbClr val="B4CCBF"/>
                </a:solidFill>
                <a:latin typeface="DejaVu Sans"/>
              </a:defRPr>
            </a:pPr>
            <a:r>
              <a:t>ASD1-M1-17  /  Deividas Dirma  /  93791</a:t>
            </a:r>
          </a:p>
        </p:txBody>
      </p:sp>
      <p:sp>
        <p:nvSpPr>
          <p:cNvPr id="6" name="TextBox 5"/>
          <p:cNvSpPr txBox="1"/>
          <p:nvPr/>
        </p:nvSpPr>
        <p:spPr>
          <a:xfrm>
            <a:off x="10972800" y="6519672"/>
            <a:ext cx="640080" cy="228600"/>
          </a:xfrm>
          <a:prstGeom prst="rect">
            <a:avLst/>
          </a:prstGeom>
          <a:noFill/>
        </p:spPr>
        <p:txBody>
          <a:bodyPr wrap="square" lIns="0" rIns="0" tIns="0" bIns="0">
            <a:spAutoFit/>
          </a:bodyPr>
          <a:lstStyle/>
          <a:p>
            <a:pPr>
              <a:spcAft>
                <a:spcPts val="1000"/>
              </a:spcAft>
              <a:defRPr sz="1000" b="0">
                <a:solidFill>
                  <a:srgbClr val="B4CCBF"/>
                </a:solidFill>
                <a:latin typeface="DejaVu Sans"/>
              </a:defRPr>
            </a:pPr>
            <a:r>
              <a:t>10/10</a:t>
            </a:r>
          </a:p>
        </p:txBody>
      </p:sp>
      <p:sp>
        <p:nvSpPr>
          <p:cNvPr id="7" name="Rounded Rectangle 6"/>
          <p:cNvSpPr/>
          <p:nvPr/>
        </p:nvSpPr>
        <p:spPr>
          <a:xfrm>
            <a:off x="594360" y="2267712"/>
            <a:ext cx="3474720" cy="2423160"/>
          </a:xfrm>
          <a:prstGeom prst="roundRect">
            <a:avLst/>
          </a:prstGeom>
          <a:solidFill>
            <a:srgbClr val="254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108960" cy="365760"/>
          </a:xfrm>
          <a:prstGeom prst="rect">
            <a:avLst/>
          </a:prstGeom>
          <a:noFill/>
        </p:spPr>
        <p:txBody>
          <a:bodyPr wrap="square" lIns="0" rIns="0" tIns="0" bIns="0">
            <a:spAutoFit/>
          </a:bodyPr>
          <a:lstStyle/>
          <a:p>
            <a:pPr>
              <a:spcAft>
                <a:spcPts val="1000"/>
              </a:spcAft>
              <a:defRPr sz="1400" b="1">
                <a:solidFill>
                  <a:srgbClr val="A8D8C4"/>
                </a:solidFill>
                <a:latin typeface="DejaVu Sans"/>
              </a:defRPr>
            </a:pPr>
            <a:r>
              <a:t>01 / PRZYKŁAD</a:t>
            </a:r>
          </a:p>
        </p:txBody>
      </p:sp>
      <p:sp>
        <p:nvSpPr>
          <p:cNvPr id="9" name="TextBox 8"/>
          <p:cNvSpPr txBox="1"/>
          <p:nvPr/>
        </p:nvSpPr>
        <p:spPr>
          <a:xfrm>
            <a:off x="777240" y="3163824"/>
            <a:ext cx="3108960" cy="1188720"/>
          </a:xfrm>
          <a:prstGeom prst="rect">
            <a:avLst/>
          </a:prstGeom>
          <a:noFill/>
        </p:spPr>
        <p:txBody>
          <a:bodyPr wrap="square" lIns="0" rIns="0" tIns="0" bIns="0">
            <a:spAutoFit/>
          </a:bodyPr>
          <a:lstStyle/>
          <a:p>
            <a:pPr>
              <a:spcAft>
                <a:spcPts val="1000"/>
              </a:spcAft>
              <a:defRPr sz="1900" b="0">
                <a:solidFill>
                  <a:srgbClr val="FFFFFF"/>
                </a:solidFill>
                <a:latin typeface="DejaVu Sans"/>
              </a:defRPr>
            </a:pPr>
            <a:r>
              <a:t>Nakładanie → zajęty czas</a:t>
            </a:r>
          </a:p>
          <a:p>
            <a:pPr>
              <a:spcAft>
                <a:spcPts val="1000"/>
              </a:spcAft>
              <a:defRPr sz="1900" b="0">
                <a:solidFill>
                  <a:srgbClr val="FFFFFF"/>
                </a:solidFill>
                <a:latin typeface="DejaVu Sans"/>
              </a:defRPr>
            </a:pPr>
            <a:r>
              <a:t>Początki i końce → najwięcej naraz</a:t>
            </a:r>
          </a:p>
        </p:txBody>
      </p:sp>
      <p:sp>
        <p:nvSpPr>
          <p:cNvPr id="10" name="Rounded Rectangle 9"/>
          <p:cNvSpPr/>
          <p:nvPr/>
        </p:nvSpPr>
        <p:spPr>
          <a:xfrm>
            <a:off x="4361688" y="2267712"/>
            <a:ext cx="3474720" cy="2423160"/>
          </a:xfrm>
          <a:prstGeom prst="roundRect">
            <a:avLst/>
          </a:prstGeom>
          <a:solidFill>
            <a:srgbClr val="254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2487168"/>
            <a:ext cx="3108960" cy="365760"/>
          </a:xfrm>
          <a:prstGeom prst="rect">
            <a:avLst/>
          </a:prstGeom>
          <a:noFill/>
        </p:spPr>
        <p:txBody>
          <a:bodyPr wrap="square" lIns="0" rIns="0" tIns="0" bIns="0">
            <a:spAutoFit/>
          </a:bodyPr>
          <a:lstStyle/>
          <a:p>
            <a:pPr>
              <a:spcAft>
                <a:spcPts val="1000"/>
              </a:spcAft>
              <a:defRPr sz="1400" b="1">
                <a:solidFill>
                  <a:srgbClr val="A8D8C4"/>
                </a:solidFill>
                <a:latin typeface="DejaVu Sans"/>
              </a:defRPr>
            </a:pPr>
            <a:r>
              <a:t>02 / KROKI</a:t>
            </a:r>
          </a:p>
        </p:txBody>
      </p:sp>
      <p:sp>
        <p:nvSpPr>
          <p:cNvPr id="12" name="TextBox 11"/>
          <p:cNvSpPr txBox="1"/>
          <p:nvPr/>
        </p:nvSpPr>
        <p:spPr>
          <a:xfrm>
            <a:off x="4544568" y="3163824"/>
            <a:ext cx="3108960" cy="1188720"/>
          </a:xfrm>
          <a:prstGeom prst="rect">
            <a:avLst/>
          </a:prstGeom>
          <a:noFill/>
        </p:spPr>
        <p:txBody>
          <a:bodyPr wrap="square" lIns="0" rIns="0" tIns="0" bIns="0">
            <a:spAutoFit/>
          </a:bodyPr>
          <a:lstStyle/>
          <a:p>
            <a:pPr>
              <a:spcAft>
                <a:spcPts val="1000"/>
              </a:spcAft>
              <a:defRPr sz="2200" b="0">
                <a:solidFill>
                  <a:srgbClr val="FFFFFF"/>
                </a:solidFill>
                <a:latin typeface="DejaVu Sans"/>
              </a:defRPr>
            </a:pPr>
            <a:r>
              <a:t>Pseudokod i zmienne</a:t>
            </a:r>
          </a:p>
          <a:p>
            <a:pPr>
              <a:spcAft>
                <a:spcPts val="1000"/>
              </a:spcAft>
              <a:defRPr sz="2200" b="0">
                <a:solidFill>
                  <a:srgbClr val="FFFFFF"/>
                </a:solidFill>
                <a:latin typeface="DejaVu Sans"/>
              </a:defRPr>
            </a:pPr>
            <a:r>
              <a:t>Sterowanie + pytanie</a:t>
            </a:r>
          </a:p>
        </p:txBody>
      </p:sp>
      <p:sp>
        <p:nvSpPr>
          <p:cNvPr id="13" name="Rounded Rectangle 12"/>
          <p:cNvSpPr/>
          <p:nvPr/>
        </p:nvSpPr>
        <p:spPr>
          <a:xfrm>
            <a:off x="8129016" y="2267712"/>
            <a:ext cx="3474720" cy="2423160"/>
          </a:xfrm>
          <a:prstGeom prst="roundRect">
            <a:avLst/>
          </a:prstGeom>
          <a:solidFill>
            <a:srgbClr val="254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1896" y="2487168"/>
            <a:ext cx="3108960" cy="365760"/>
          </a:xfrm>
          <a:prstGeom prst="rect">
            <a:avLst/>
          </a:prstGeom>
          <a:noFill/>
        </p:spPr>
        <p:txBody>
          <a:bodyPr wrap="square" lIns="0" rIns="0" tIns="0" bIns="0">
            <a:spAutoFit/>
          </a:bodyPr>
          <a:lstStyle/>
          <a:p>
            <a:pPr>
              <a:spcAft>
                <a:spcPts val="1000"/>
              </a:spcAft>
              <a:defRPr sz="1400" b="1">
                <a:solidFill>
                  <a:srgbClr val="A8D8C4"/>
                </a:solidFill>
                <a:latin typeface="DejaVu Sans"/>
              </a:defRPr>
            </a:pPr>
            <a:r>
              <a:t>03 / ZMIANA DANYCH</a:t>
            </a:r>
          </a:p>
        </p:txBody>
      </p:sp>
      <p:sp>
        <p:nvSpPr>
          <p:cNvPr id="15" name="TextBox 14"/>
          <p:cNvSpPr txBox="1"/>
          <p:nvPr/>
        </p:nvSpPr>
        <p:spPr>
          <a:xfrm>
            <a:off x="8311896" y="3163824"/>
            <a:ext cx="3108960" cy="1188720"/>
          </a:xfrm>
          <a:prstGeom prst="rect">
            <a:avLst/>
          </a:prstGeom>
          <a:noFill/>
        </p:spPr>
        <p:txBody>
          <a:bodyPr wrap="square" lIns="0" rIns="0" tIns="0" bIns="0">
            <a:spAutoFit/>
          </a:bodyPr>
          <a:lstStyle/>
          <a:p>
            <a:pPr>
              <a:spcAft>
                <a:spcPts val="1000"/>
              </a:spcAft>
              <a:defRPr sz="1900" b="0">
                <a:solidFill>
                  <a:srgbClr val="FFFFFF"/>
                </a:solidFill>
                <a:latin typeface="DejaVu Sans"/>
              </a:defRPr>
            </a:pPr>
            <a:r>
              <a:t>Styk i dwa okresy z tym samym wynikiem</a:t>
            </a:r>
          </a:p>
          <a:p>
            <a:pPr>
              <a:spcAft>
                <a:spcPts val="1000"/>
              </a:spcAft>
              <a:defRPr sz="2200" b="0">
                <a:solidFill>
                  <a:srgbClr val="FFFFFF"/>
                </a:solidFill>
                <a:latin typeface="DejaVu Sans"/>
              </a:defRPr>
            </a:pPr>
            <a:r>
              <a:t>Porównanie + testy</a:t>
            </a:r>
          </a:p>
        </p:txBody>
      </p:sp>
      <p:sp>
        <p:nvSpPr>
          <p:cNvPr id="16" name="TextBox 15"/>
          <p:cNvSpPr txBox="1"/>
          <p:nvPr/>
        </p:nvSpPr>
        <p:spPr>
          <a:xfrm>
            <a:off x="731520" y="5303520"/>
            <a:ext cx="10789920" cy="594360"/>
          </a:xfrm>
          <a:prstGeom prst="rect">
            <a:avLst/>
          </a:prstGeom>
          <a:noFill/>
        </p:spPr>
        <p:txBody>
          <a:bodyPr wrap="square" lIns="0" rIns="0" tIns="0" bIns="0">
            <a:spAutoFit/>
          </a:bodyPr>
          <a:lstStyle/>
          <a:p>
            <a:pPr>
              <a:spcAft>
                <a:spcPts val="1000"/>
              </a:spcAft>
              <a:defRPr sz="2700" b="1">
                <a:solidFill>
                  <a:srgbClr val="A8D8C4"/>
                </a:solidFill>
                <a:latin typeface="DejaVu Sans"/>
              </a:defRPr>
            </a:pPr>
            <a:r>
              <a:t>Otwieram index.html → pokazuję działający produkt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Rezerwacje sali — ASD1-M1-17</dc:title>
  <dc:subject/>
  <dc:creator>Deividas Dirma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